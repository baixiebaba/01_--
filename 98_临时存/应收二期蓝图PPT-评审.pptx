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3AB_8E469FB9.xml" ContentType="application/vnd.ms-powerpoint.comment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2.xml" ContentType="application/vnd.openxmlformats-officedocument.presentationml.notesSlide+xml"/>
  <Override PartName="/ppt/comments/modernComment_306_0.xml" ContentType="application/vnd.ms-powerpoint.comment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939" r:id="rId2"/>
    <p:sldId id="774" r:id="rId3"/>
    <p:sldId id="940" r:id="rId4"/>
    <p:sldId id="468" r:id="rId5"/>
    <p:sldId id="941" r:id="rId6"/>
    <p:sldId id="942" r:id="rId7"/>
    <p:sldId id="943" r:id="rId8"/>
    <p:sldId id="944" r:id="rId9"/>
    <p:sldId id="94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6C1278-841E-8C6B-0F1B-243FF842F1BA}" name="qingfeng shi" initials="qs" userId="a62892ee5637dfc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真硕" initials="张" lastIdx="0" clrIdx="0"/>
  <p:cmAuthor id="2" name="Dasgupta, Tania" initials="" lastIdx="0" clrIdx="1"/>
  <p:cmAuthor id="3" name="lenovo" initials="l" lastIdx="0" clrIdx="2"/>
  <p:cmAuthor id="4" name="作者" initials="A" lastIdx="0" clrIdx="3"/>
  <p:cmAuthor id="5" name="季 胜" initials="季" lastIdx="0" clrIdx="4"/>
  <p:cmAuthor id="6" name="null" initials="null" lastIdx="0" clrIdx="5"/>
  <p:cmAuthor id="7" name="Hu Lake" initials="HL" lastIdx="0" clrIdx="6"/>
  <p:cmAuthor id="8" name="yu qiao" initials="" lastIdx="0" clrIdx="7"/>
  <p:cmAuthor id="9" name=" " initials="" lastIdx="0" clrIdx="8"/>
  <p:cmAuthor id="10" name="sunlili" initials="s" lastIdx="0" clrIdx="9"/>
  <p:cmAuthor id="11" name="未知用户319" initials="未" lastIdx="0" clrIdx="10"/>
  <p:cmAuthor id="12" name="Lenovo" initials="L" lastIdx="0" clrIdx="11"/>
  <p:cmAuthor id="13" name="未知用户222" initials="未" lastIdx="0" clrIdx="12"/>
  <p:cmAuthor id="14" name="Windows 用户" initials="" lastIdx="0" clrIdx="13"/>
  <p:cmAuthor id="15" name="未知用户87" initials="未" lastIdx="0" clrIdx="14"/>
  <p:cmAuthor id="16" name="李 潇洋" initials="李" lastIdx="0" clrIdx="15"/>
  <p:cmAuthor id="17" name="未知用户88" initials="未" lastIdx="0" clrIdx="16"/>
  <p:cmAuthor id="18" name="Davidpeng" initials="D" lastIdx="0" clrIdx="17"/>
  <p:cmAuthor id="19" name="未知用户89" initials="未" lastIdx="0" clrIdx="18"/>
  <p:cmAuthor id="20" name="brad" initials="brad" lastIdx="0" clrIdx="19"/>
  <p:cmAuthor id="21" name="lan yao" initials="ly" lastIdx="0" clrIdx="20"/>
  <p:cmAuthor id="22" name="未知用户110" initials="未" lastIdx="0" clrIdx="21"/>
  <p:cmAuthor id="23" name="Unknown User8" initials="Unknown User8" lastIdx="0" clrIdx="22"/>
  <p:cmAuthor id="24" name="未知用户121" initials="未" lastIdx="0" clrIdx="23"/>
  <p:cmAuthor id="25" name="viola" initials="v" lastIdx="0" clrIdx="24"/>
  <p:cmAuthor id="26" name="未知用户234" initials="未" lastIdx="0" clrIdx="25"/>
  <p:cmAuthor id="27" name="张 平" initials="张" lastIdx="0" clrIdx="26"/>
  <p:cmAuthor id="28" name="dell" initials="d" lastIdx="0" clrIdx="27"/>
  <p:cmAuthor id="29" name="未知用户54" initials="未" lastIdx="0" clrIdx="28"/>
  <p:cmAuthor id="30" name="文迅 杨" initials="文杨" lastIdx="0" clrIdx="29"/>
  <p:cmAuthor id="31" name="未知用户278" initials="未" lastIdx="0" clrIdx="30"/>
  <p:cmAuthor id="32" name="Yangtianyi" initials="Y" lastIdx="0" clrIdx="31"/>
  <p:cmAuthor id="33" name="未知用户279" initials="未" lastIdx="0" clrIdx="32"/>
  <p:cmAuthor id="34" name="Jun Li" initials="J" lastIdx="0" clrIdx="33"/>
  <p:cmAuthor id="35" name="未知用户280" initials="未" lastIdx="0" clrIdx="34"/>
  <p:cmAuthor id="36" name="刘振权" initials="刘" lastIdx="0" clrIdx="35"/>
  <p:cmAuthor id="37" name="未知用户281" initials="未" lastIdx="0" clrIdx="36"/>
  <p:cmAuthor id="38" name="len" initials="l" lastIdx="0" clrIdx="37"/>
  <p:cmAuthor id="39" name="未知用户282" initials="未" lastIdx="0" clrIdx="38"/>
  <p:cmAuthor id="40" name="Unknown User1" initials="U" lastIdx="0" clrIdx="39"/>
  <p:cmAuthor id="41" name="未知用户283" initials="未" lastIdx="0" clrIdx="40"/>
  <p:cmAuthor id="42" name="ljhdeyx@163.com" initials="l" lastIdx="0" clrIdx="41"/>
  <p:cmAuthor id="43" name="未知用户284" initials="未" lastIdx="0" clrIdx="42"/>
  <p:cmAuthor id="44" name="mhuang" initials="m" lastIdx="0" clrIdx="43"/>
  <p:cmAuthor id="45" name="未知用户285" initials="未" lastIdx="0" clrIdx="44"/>
  <p:cmAuthor id="46" name="hqp" initials="h" lastIdx="0" clrIdx="45"/>
  <p:cmAuthor id="47" name="郭洋" initials="郭" lastIdx="0" clrIdx="46"/>
  <p:cmAuthor id="48" name="78234500@qq.com" initials="7" lastIdx="0" clrIdx="47"/>
  <p:cmAuthor id="49" name="包 仲科" initials="包" lastIdx="0" clrIdx="48"/>
  <p:cmAuthor id="50" name="仲科 包" initials="仲包" lastIdx="0" clrIdx="49"/>
  <p:cmAuthor id="51" name="未知用户290" initials="未" lastIdx="0" clrIdx="50"/>
  <p:cmAuthor id="52" name="未知用户18" initials="未" lastIdx="0" clrIdx="51"/>
  <p:cmAuthor id="53" name="未知用户291" initials="未" lastIdx="0" clrIdx="52"/>
  <p:cmAuthor id="54" name="10056791" initials="ZTE" lastIdx="0" clrIdx="53"/>
  <p:cmAuthor id="55" name="未知用户292" initials="未" lastIdx="0" clrIdx="54"/>
  <p:cmAuthor id="56" name="Author" initials="A" lastIdx="0" clrIdx="55"/>
  <p:cmAuthor id="57" name="未知用户293" initials="未" lastIdx="0" clrIdx="56"/>
  <p:cmAuthor id="58" name="李楠10047711" initials="李楠10047711" lastIdx="0" clrIdx="57"/>
  <p:cmAuthor id="59" name="未知用户295" initials="未" lastIdx="0" clrIdx="58"/>
  <p:cmAuthor id="60" name="610007" initials="6" lastIdx="0" clrIdx="59"/>
  <p:cmAuthor id="61" name="未知用户297" initials="未" lastIdx="0" clrIdx="60"/>
  <p:cmAuthor id="62" name="未知用户13" initials="未" lastIdx="0" clrIdx="61"/>
  <p:cmAuthor id="63" name="panjm" initials="p" lastIdx="0" clrIdx="62"/>
  <p:cmAuthor id="64" name="未知用户14" initials="未" lastIdx="0" clrIdx="63"/>
  <p:cmAuthor id="65" name="ye gusong" initials="y" lastIdx="0" clrIdx="64"/>
  <p:cmAuthor id="66" name="yuanzh" initials="y" lastIdx="0" clrIdx="65"/>
  <p:cmAuthor id="67" name="wei muzi" initials="w" lastIdx="0" clrIdx="66"/>
  <p:cmAuthor id="68" name="Harry xu" initials="H" lastIdx="0" clrIdx="67"/>
  <p:cmAuthor id="69" name="孙" initials="孙" lastIdx="0" clrIdx="68"/>
  <p:cmAuthor id="70" name="未知用户3" initials="" lastIdx="0" clrIdx="69"/>
  <p:cmAuthor id="71" name="liuchunhua199110" initials="l" lastIdx="0" clrIdx="70"/>
  <p:cmAuthor id="72" name="YUMINGNJ" initials="Y" lastIdx="0" clrIdx="71"/>
  <p:cmAuthor id="73" name="Microsoft Office User" initials="M" lastIdx="0" clrIdx="72"/>
  <p:cmAuthor id="74" name="daphne" initials="d" lastIdx="0" clrIdx="73"/>
  <p:cmAuthor id="75" name="未知用户256" initials="未" lastIdx="0" clrIdx="74"/>
  <p:cmAuthor id="76" name="AbuSina" initials="A" lastIdx="0" clrIdx="75"/>
  <p:cmAuthor id="77" name="微软用户" initials="" lastIdx="0" clrIdx="76"/>
  <p:cmAuthor id="78" name="未知用户258" initials="未" lastIdx="0" clrIdx="77"/>
  <p:cmAuthor id="79" name="未知的使用者8" initials="未" lastIdx="0" clrIdx="78"/>
  <p:cmAuthor id="80" name="qiantong" initials="q" lastIdx="0" clrIdx="79"/>
  <p:cmAuthor id="81" name="116304" initials="1" lastIdx="0" clrIdx="80"/>
  <p:cmAuthor id="82" name="未知的使用者16" initials="未" lastIdx="0" clrIdx="81"/>
  <p:cmAuthor id="83" name="未知的使用者13" initials="未" lastIdx="0" clrIdx="82"/>
  <p:cmAuthor id="84" name="未知的使用者14" initials="未" lastIdx="0" clrIdx="83"/>
  <p:cmAuthor id="85" name="yudi lin" initials="y" lastIdx="0" clrIdx="84"/>
  <p:cmAuthor id="86" name="未知的使用者24" initials="未" lastIdx="0" clrIdx="85"/>
  <p:cmAuthor id="87" name="未知的使用者25" initials="未" lastIdx="0" clrIdx="86"/>
  <p:cmAuthor id="88" name="未知的使用者26" initials="未" lastIdx="0" clrIdx="87"/>
  <p:cmAuthor id="89" name="49554261@qq.com" initials="4" lastIdx="0" clrIdx="88"/>
  <p:cmAuthor id="90" name="未知的使用者27" initials="未" lastIdx="0" clrIdx="89"/>
  <p:cmAuthor id="91" name="未知的使用者28" initials="未" lastIdx="0" clrIdx="90"/>
  <p:cmAuthor id="92" name="未知的使用者29" initials="未" lastIdx="0" clrIdx="91"/>
  <p:cmAuthor id="93" name="未知用户313" initials="未" lastIdx="0" clrIdx="92"/>
  <p:cmAuthor id="94" name="Jason Wang" initials="J" lastIdx="0" clrIdx="93"/>
  <p:cmAuthor id="95" name="胡岱雯" initials="胡" lastIdx="0" clrIdx="94"/>
  <p:cmAuthor id="96" name="未知用户5" initials="未" lastIdx="0" clrIdx="95"/>
  <p:cmAuthor id="97" name="未知的使用者9" initials="未" lastIdx="0" clrIdx="96"/>
  <p:cmAuthor id="98" name="未知用户268" initials="未" lastIdx="0" clrIdx="97"/>
  <p:cmAuthor id="99" name="王鹏凯" initials="王" lastIdx="0" clrIdx="98"/>
  <p:cmAuthor id="100" name="liuzga" initials="l" lastIdx="0" clrIdx="99"/>
  <p:cmAuthor id="101" name="未知用户213" initials="未" lastIdx="0" clrIdx="100"/>
  <p:cmAuthor id="102" name="Saku Uchikawa" initials="S" lastIdx="0" clrIdx="101"/>
  <p:cmAuthor id="103" name="未知用户218" initials="未" lastIdx="0" clrIdx="102"/>
  <p:cmAuthor id="104" name="未知的使用者3" initials="未" lastIdx="0" clrIdx="103"/>
  <p:cmAuthor id="105" name="未知用户219" initials="未" lastIdx="0" clrIdx="104"/>
  <p:cmAuthor id="106" name="Deanna Schuler (Bookey Consulting)" initials="" lastIdx="0" clrIdx="105"/>
  <p:cmAuthor id="107" name="未知用户344" initials="未" lastIdx="0" clrIdx="106"/>
  <p:cmAuthor id="108" name="未知的使用者34" initials="未" lastIdx="0" clrIdx="107"/>
  <p:cmAuthor id="109" name="未知用户345" initials="未" lastIdx="0" clrIdx="108"/>
  <p:cmAuthor id="110" name="未知的使用者35" initials="未" lastIdx="0" clrIdx="109"/>
  <p:cmAuthor id="111" name="未知用户347" initials="未" lastIdx="0" clrIdx="110"/>
  <p:cmAuthor id="112" name="未知的使用者30" initials="未" lastIdx="0" clrIdx="111"/>
  <p:cmAuthor id="113" name="未知用户348" initials="未" lastIdx="0" clrIdx="112"/>
  <p:cmAuthor id="114" name="未知的使用者31" initials="未" lastIdx="0" clrIdx="113"/>
  <p:cmAuthor id="115" name="jian Ray" initials="j" lastIdx="0" clrIdx="114"/>
  <p:cmAuthor id="116" name="未知的使用者32" initials="未" lastIdx="0" clrIdx="115"/>
  <p:cmAuthor id="117" name="未知的使用者22" initials="未" lastIdx="0" clrIdx="116"/>
  <p:cmAuthor id="118" name="未知的使用者23" initials="未" lastIdx="0" clrIdx="117"/>
  <p:cmAuthor id="119" name="王丽君" initials="王" lastIdx="0" clrIdx="118"/>
  <p:cmAuthor id="120" name="LeeElva" initials="L" lastIdx="0" clrIdx="119"/>
  <p:cmAuthor id="121" name="未知用户237" initials="未" lastIdx="0" clrIdx="120"/>
  <p:cmAuthor id="122" name="未知用户22" initials="未" lastIdx="0" clrIdx="121"/>
  <p:cmAuthor id="123" name="�Ÿ�" initials="�" lastIdx="0" clrIdx="122"/>
  <p:cmAuthor id="124" name="未知用户24" initials="未" lastIdx="0" clrIdx="123"/>
  <p:cmAuthor id="125" name="未知用户221" initials="未" lastIdx="0" clrIdx="124"/>
  <p:cmAuthor id="126" name="未知用户66" initials="未" lastIdx="0" clrIdx="125"/>
  <p:cmAuthor id="127" name="jesschin" initials="j" lastIdx="0" clrIdx="126"/>
  <p:cmAuthor id="128" name="未知用户67" initials="未" lastIdx="0" clrIdx="127"/>
  <p:cmAuthor id="129" name="Zhou weiiiijie" initials="Zw" lastIdx="0" clrIdx="128"/>
  <p:cmAuthor id="130" name="Carol Kelly" initials="C" lastIdx="0" clrIdx="129"/>
  <p:cmAuthor id="131" name="蒋善武" initials="u" lastIdx="0" clrIdx="130"/>
  <p:cmAuthor id="132" name="G W" initials="GW" lastIdx="0" clrIdx="131"/>
  <p:cmAuthor id="133" name="lianghb" initials="l" lastIdx="0" clrIdx="132"/>
  <p:cmAuthor id="134" name="Unknown User58" initials="U" lastIdx="0" clrIdx="133"/>
  <p:cmAuthor id="135" name="linyd" initials="l" lastIdx="0" clrIdx="134"/>
  <p:cmAuthor id="136" name="Unknown User55" initials="U" lastIdx="0" clrIdx="135"/>
  <p:cmAuthor id="137" name="muzi wei" initials="m" lastIdx="0" clrIdx="136"/>
  <p:cmAuthor id="138" name="未知用户343" initials="未" lastIdx="0" clrIdx="137"/>
  <p:cmAuthor id="139" name="未知的使用者46" initials="未" lastIdx="0" clrIdx="138"/>
  <p:cmAuthor id="140" name="Huipeng Cao" initials="H" lastIdx="0" clrIdx="139"/>
  <p:cmAuthor id="141" name="mm" initials="m" lastIdx="0" clrIdx="140"/>
  <p:cmAuthor id="142" name="李 雷雨" initials="李" lastIdx="0" clrIdx="141"/>
  <p:cmAuthor id="143" name="未知用户55" initials="未" lastIdx="0" clrIdx="142"/>
  <p:cmAuthor id="144" name="91257" initials="9" lastIdx="0" clrIdx="143"/>
  <p:cmAuthor id="145" name="未知用户51" initials="未" lastIdx="0" clrIdx="144"/>
  <p:cmAuthor id="146" name="vicky" initials="v" lastIdx="0" clrIdx="145"/>
  <p:cmAuthor id="147" name="未知用户11" initials="" lastIdx="0" clrIdx="146"/>
  <p:cmAuthor id="148" name="庆芳 许" initials="庆" lastIdx="0" clrIdx="147"/>
  <p:cmAuthor id="149" name="Shawna Strickland" initials="S" lastIdx="0" clrIdx="148"/>
  <p:cmAuthor id="150" name="jerrychou" initials="j" lastIdx="0" clrIdx="149"/>
  <p:cmAuthor id="151" name="Ashley Eberenz" initials="A" lastIdx="0" clrIdx="150"/>
  <p:cmAuthor id="152" name="不明使用者12" initials="不" lastIdx="0" clrIdx="151"/>
  <p:cmAuthor id="153" name="Mary Feil-Jacobs" initials="M" lastIdx="0" clrIdx="152"/>
  <p:cmAuthor id="154" name="不明使用者1" initials="不" lastIdx="0" clrIdx="153"/>
  <p:cmAuthor id="155" name="未知用户81" initials="未" lastIdx="0" clrIdx="154"/>
  <p:cmAuthor id="156" name="不明使用者2" initials="不" lastIdx="0" clrIdx="155"/>
  <p:cmAuthor id="157" name="未知用户82" initials="未" lastIdx="0" clrIdx="156"/>
  <p:cmAuthor id="158" name="未知用户83" initials="未" lastIdx="0" clrIdx="157"/>
  <p:cmAuthor id="159" name="不明使用者4" initials="不" lastIdx="0" clrIdx="158"/>
  <p:cmAuthor id="160" name="未知的使用者67" initials="未" lastIdx="0" clrIdx="159"/>
  <p:cmAuthor id="161" name="不明使用者6" initials="不" lastIdx="0" clrIdx="160"/>
  <p:cmAuthor id="162" name="未知的使用者68" initials="未" lastIdx="0" clrIdx="161"/>
  <p:cmAuthor id="163" name="不明使用者5" initials="不" lastIdx="0" clrIdx="162"/>
  <p:cmAuthor id="164" name="未知的使用者69" initials="未" lastIdx="0" clrIdx="163"/>
  <p:cmAuthor id="165" name="未知用户296" initials="未" lastIdx="0" clrIdx="164"/>
  <p:cmAuthor id="166" name="未知的使用者56" initials="未" lastIdx="0" clrIdx="165"/>
  <p:cmAuthor id="167" name="不明使用者8" initials="不" lastIdx="0" clrIdx="166"/>
  <p:cmAuthor id="168" name="未知的使用者55" initials="未" lastIdx="0" clrIdx="167"/>
  <p:cmAuthor id="169" name="不明使用者9" initials="不" lastIdx="0" clrIdx="168"/>
  <p:cmAuthor id="170" name="未知的使用者52" initials="未" lastIdx="0" clrIdx="169"/>
  <p:cmAuthor id="171" name="不明使用者10" initials="不" lastIdx="0" clrIdx="170"/>
  <p:cmAuthor id="172" name="未知的使用者72" initials="未" lastIdx="0" clrIdx="171"/>
  <p:cmAuthor id="173" name="不明使用者11" initials="不" lastIdx="0" clrIdx="172"/>
  <p:cmAuthor id="174" name="未知的使用者74" initials="未" lastIdx="0" clrIdx="173"/>
  <p:cmAuthor id="175" name="Carol Wu" initials="C" lastIdx="0" clrIdx="174"/>
  <p:cmAuthor id="176" name="未知的使用者71" initials="未" lastIdx="0" clrIdx="175"/>
  <p:cmAuthor id="177" name="P1063cindychen" initials="P" lastIdx="0" clrIdx="176"/>
  <p:cmAuthor id="178" name="未知用户304" initials="未" lastIdx="0" clrIdx="177"/>
  <p:cmAuthor id="179" name="未知的使用者43" initials="" lastIdx="0" clrIdx="178"/>
  <p:cmAuthor id="180" name="未知用户305" initials="未" lastIdx="0" clrIdx="179"/>
  <p:cmAuthor id="181" name="敢 王" initials="敢" lastIdx="0" clrIdx="180"/>
  <p:cmAuthor id="182" name="未知用户62" initials="" lastIdx="0" clrIdx="181"/>
  <p:cmAuthor id="183" name="邓 勇" initials="邓" lastIdx="0" clrIdx="182"/>
  <p:cmAuthor id="184" name="陈城" initials="陈" lastIdx="0" clrIdx="183"/>
  <p:cmAuthor id="185" name="不明使用者57" initials="" lastIdx="0" clrIdx="184"/>
  <p:cmAuthor id="186" name="未知用户309" initials="未" lastIdx="0" clrIdx="185"/>
  <p:cmAuthor id="187" name="未知用户108" initials="" lastIdx="0" clrIdx="186"/>
  <p:cmAuthor id="188" name="未知的使用者110" initials="" lastIdx="0" clrIdx="187"/>
  <p:cmAuthor id="189" name="未知用户311" initials="未" lastIdx="0" clrIdx="188"/>
  <p:cmAuthor id="190" name="未知用户312" initials="未" lastIdx="0" clrIdx="189"/>
  <p:cmAuthor id="191" name="唐可欣" initials="唐" lastIdx="0" clrIdx="190"/>
  <p:cmAuthor id="192" name="未知用户314" initials="未" lastIdx="0" clrIdx="191"/>
  <p:cmAuthor id="193" name="晓  曲" initials="晓" lastIdx="0" clrIdx="192"/>
  <p:cmAuthor id="194" name="未知的使用者33" initials="未" lastIdx="0" clrIdx="193"/>
  <p:cmAuthor id="195" name="未知用户216" initials="未" lastIdx="0" clrIdx="194"/>
  <p:cmAuthor id="196" name="孟连磊" initials="孟" lastIdx="0" clrIdx="195"/>
  <p:cmAuthor id="197" name="未知用户15" initials="" lastIdx="0" clrIdx="196"/>
  <p:cmAuthor id="198" name="未知的使用者177" initials="未" lastIdx="0" clrIdx="197"/>
  <p:cmAuthor id="199" name="曾红" initials="曾" lastIdx="0" clrIdx="198"/>
  <p:cmAuthor id="200" name="未知用户16" initials="未" lastIdx="0" clrIdx="199"/>
  <p:cmAuthor id="201" name="未知用户17" initials="未" lastIdx="0" clrIdx="200"/>
  <p:cmAuthor id="202" name="liupeng" initials="l" lastIdx="0" clrIdx="201"/>
  <p:cmAuthor id="203" name="周宏達JerryChou" initials="周" lastIdx="0" clrIdx="202"/>
  <p:cmAuthor id="204" name="luxu" initials="l" lastIdx="0" clrIdx="203"/>
  <p:cmAuthor id="205" name="hl sun" initials="h" lastIdx="0" clrIdx="204"/>
  <p:cmAuthor id="206" name="不明使用者20" initials="不" lastIdx="0" clrIdx="205"/>
  <p:cmAuthor id="207" name="不明使用者21" initials="不" lastIdx="0" clrIdx="206"/>
  <p:cmAuthor id="208" name="不明使用者18" initials="不" lastIdx="0" clrIdx="207"/>
  <p:cmAuthor id="209" name="不明使用者19" initials="不" lastIdx="0" clrIdx="208"/>
  <p:cmAuthor id="210" name="yuexuejun" initials="y" lastIdx="0" clrIdx="209"/>
  <p:cmAuthor id="211" name="未知的使用者76" initials="未" lastIdx="0" clrIdx="210"/>
  <p:cmAuthor id="212" name="未知的使用者70" initials="未" lastIdx="0" clrIdx="211"/>
  <p:cmAuthor id="213" name="未知的使用者73" initials="未" lastIdx="0" clrIdx="212"/>
  <p:cmAuthor id="214" name="未知用户57" initials="未" lastIdx="0" clrIdx="213"/>
  <p:cmAuthor id="215" name="未知用户58" initials="未" lastIdx="0" clrIdx="214"/>
  <p:cmAuthor id="216" name="未知用户59" initials="未" lastIdx="0" clrIdx="215"/>
  <p:cmAuthor id="217" name="Christina" initials="C" lastIdx="0" clrIdx="216"/>
  <p:cmAuthor id="218" name="jet" initials="j" lastIdx="0" clrIdx="217"/>
  <p:cmAuthor id="219" name="未知用户103" initials="未" lastIdx="0" clrIdx="218"/>
  <p:cmAuthor id="220" name="未知用户104" initials="未" lastIdx="0" clrIdx="219"/>
  <p:cmAuthor id="221" name="未知用户102" initials="未" lastIdx="0" clrIdx="220"/>
  <p:cmAuthor id="222" name="未知用户99" initials="未" lastIdx="0" clrIdx="221"/>
  <p:cmAuthor id="223" name="未知的使用者95" initials="未" lastIdx="0" clrIdx="222"/>
  <p:cmAuthor id="224" name="未知的使用者92" initials="未" lastIdx="0" clrIdx="223"/>
  <p:cmAuthor id="225" name="未知的使用者93" initials="未" lastIdx="0" clrIdx="224"/>
  <p:cmAuthor id="226" name="未知的使用者94" initials="未" lastIdx="0" clrIdx="225"/>
  <p:cmAuthor id="227" name="未知的使用者119" initials="未" lastIdx="0" clrIdx="226"/>
  <p:cmAuthor id="228" name="未知的使用者120" initials="未" lastIdx="0" clrIdx="227"/>
  <p:cmAuthor id="229" name="未知的使用者121" initials="未" lastIdx="0" clrIdx="228"/>
  <p:cmAuthor id="230" name="未知的使用者111" initials="未" lastIdx="0" clrIdx="229"/>
  <p:cmAuthor id="231" name="未知用户114" initials="未" lastIdx="0" clrIdx="230"/>
  <p:cmAuthor id="232" name="未知用户115" initials="未" lastIdx="0" clrIdx="231"/>
  <p:cmAuthor id="233" name="未知用户116" initials="未" lastIdx="0" clrIdx="232"/>
  <p:cmAuthor id="234" name="未知用户117" initials="未" lastIdx="0" clrIdx="233"/>
  <p:cmAuthor id="235" name="未知用户61" initials="未" lastIdx="0" clrIdx="234"/>
  <p:cmAuthor id="236" name="未知用户60" initials="未" lastIdx="0" clrIdx="235"/>
  <p:cmAuthor id="237" name="未知用户98" initials="" lastIdx="0" clrIdx="236"/>
  <p:cmAuthor id="238" name="未知的使用者40" initials="未" lastIdx="0" clrIdx="237"/>
  <p:cmAuthor id="239" name="張秀娟" initials="" lastIdx="0" clrIdx="238"/>
  <p:cmAuthor id="240" name="未知的使用者17" initials="" lastIdx="0" clrIdx="239"/>
  <p:cmAuthor id="241" name="未知的使用者48" initials="" lastIdx="0" clrIdx="240"/>
  <p:cmAuthor id="242" name="未知的使用者104" initials="" lastIdx="0" clrIdx="241"/>
  <p:cmAuthor id="243" name="未知用户2" initials="未" lastIdx="0" clrIdx="242"/>
  <p:cmAuthor id="244" name="未知用户93" initials="未" lastIdx="0" clrIdx="243"/>
  <p:cmAuthor id="245" name="未知用户90" initials="未" lastIdx="0" clrIdx="244"/>
  <p:cmAuthor id="246" name="未知的使用者36" initials="" lastIdx="0" clrIdx="245"/>
  <p:cmAuthor id="247" name="未知的使用者18" initials="" lastIdx="0" clrIdx="246"/>
  <p:cmAuthor id="248" name="Daniel Wuu" initials="" lastIdx="0" clrIdx="247"/>
  <p:cmAuthor id="249" name="未知用户56" initials="" lastIdx="0" clrIdx="248"/>
  <p:cmAuthor id="250" name="未知用户76" initials="未" lastIdx="0" clrIdx="249"/>
  <p:cmAuthor id="251" name="未知用户77" initials="未" lastIdx="0" clrIdx="250"/>
  <p:cmAuthor id="252" name="未知用户78" initials="未" lastIdx="0" clrIdx="251"/>
  <p:cmAuthor id="253" name="未知用户79" initials="未" lastIdx="0" clrIdx="252"/>
  <p:cmAuthor id="254" name="未知用户80" initials="未" lastIdx="0" clrIdx="253"/>
  <p:cmAuthor id="255" name="R affer" initials="" lastIdx="0" clrIdx="254"/>
  <p:cmAuthor id="256" name="Neno Loje" initials="" lastIdx="0" clrIdx="255"/>
  <p:cmAuthor id="257" name="未知的使用者49" initials="" lastIdx="0" clrIdx="256"/>
  <p:cmAuthor id="258" name="Unknown User22" initials="U" lastIdx="0" clrIdx="257"/>
  <p:cmAuthor id="259" name="未知的使用者105" initials="" lastIdx="0" clrIdx="258"/>
  <p:cmAuthor id="260" name="未知的使用者112" initials="未" lastIdx="0" clrIdx="259"/>
  <p:cmAuthor id="261" name="未知用户25" initials="未" lastIdx="0" clrIdx="260"/>
  <p:cmAuthor id="262" name="未知用户28" initials="未" lastIdx="0" clrIdx="261"/>
  <p:cmAuthor id="263" name="未知用户27" initials="未" lastIdx="0" clrIdx="262"/>
  <p:cmAuthor id="264" name="未知的使用者37" initials="未" lastIdx="0" clrIdx="263"/>
  <p:cmAuthor id="265" name="未知的使用者146" initials="未" lastIdx="0" clrIdx="264"/>
  <p:cmAuthor id="266" name="未知的使用者147" initials="未" lastIdx="0" clrIdx="265"/>
  <p:cmAuthor id="267" name="Evonlin" initials="E" lastIdx="0" clrIdx="266"/>
  <p:cmAuthor id="268" name="未知的使用者133" initials="未" lastIdx="0" clrIdx="267"/>
  <p:cmAuthor id="269" name="未知的使用者134" initials="未" lastIdx="0" clrIdx="268"/>
  <p:cmAuthor id="270" name="未知用户37" initials="未" lastIdx="0" clrIdx="269"/>
  <p:cmAuthor id="271" name="未知用户38" initials="未" lastIdx="0" clrIdx="270"/>
  <p:cmAuthor id="272" name="未知用户39" initials="未" lastIdx="0" clrIdx="271"/>
  <p:cmAuthor id="273" name="Admin" initials="A" lastIdx="0" clrIdx="272"/>
  <p:cmAuthor id="274" name="未知的使用者64" initials="未" lastIdx="0" clrIdx="273"/>
  <p:cmAuthor id="275" name="未知的使用者65" initials="未" lastIdx="0" clrIdx="274"/>
  <p:cmAuthor id="276" name="未知的使用者66" initials="未" lastIdx="0" clrIdx="275"/>
  <p:cmAuthor id="277" name="未知的使用者162" initials="未" lastIdx="0" clrIdx="276"/>
  <p:cmAuthor id="278" name="未知用户35" initials="未" lastIdx="0" clrIdx="277"/>
  <p:cmAuthor id="279" name="未知用户36" initials="未" lastIdx="0" clrIdx="278"/>
  <p:cmAuthor id="280" name="未知用户26" initials="未" lastIdx="0" clrIdx="279"/>
  <p:cmAuthor id="281" name="未知用户23" initials="未" lastIdx="0" clrIdx="280"/>
  <p:cmAuthor id="282" name="未知用户29" initials="未" lastIdx="0" clrIdx="281"/>
  <p:cmAuthor id="283" name="未知用户30" initials="未" lastIdx="0" clrIdx="282"/>
  <p:cmAuthor id="284" name="未知用户31" initials="未" lastIdx="0" clrIdx="283"/>
  <p:cmAuthor id="285" name="未知用户32" initials="未" lastIdx="0" clrIdx="284"/>
  <p:cmAuthor id="286" name="未知用户33" initials="未" lastIdx="0" clrIdx="285"/>
  <p:cmAuthor id="287" name="未知用户34" initials="未" lastIdx="0" clrIdx="286"/>
  <p:cmAuthor id="288" name="未知的使用者160" initials="未" lastIdx="0" clrIdx="287"/>
  <p:cmAuthor id="289" name="huang gerrard" initials="h" lastIdx="0" clrIdx="288"/>
  <p:cmAuthor id="290" name="Unknown User24" initials="U" lastIdx="0" clrIdx="289"/>
  <p:cmAuthor id="291" name="Unknown User25" initials="U" lastIdx="0" clrIdx="290"/>
  <p:cmAuthor id="292" name="Unknown User26" initials="U" lastIdx="0" clrIdx="291"/>
  <p:cmAuthor id="293" name="Unknown User27" initials="U" lastIdx="0" clrIdx="292"/>
  <p:cmAuthor id="294" name="Unknown User28" initials="U" lastIdx="0" clrIdx="293"/>
  <p:cmAuthor id="295" name="曾蓓/贝贝" initials="曾" lastIdx="0" clrIdx="294"/>
  <p:cmAuthor id="296" name="Unknown User11" initials="U" lastIdx="0" clrIdx="295"/>
  <p:cmAuthor id="297" name="李强" initials="A" lastIdx="0" clrIdx="296"/>
  <p:cmAuthor id="298" name="未知用户7" initials="未" lastIdx="0" clrIdx="297"/>
  <p:cmAuthor id="299" name="施普希（菜菜）" initials="施" lastIdx="0" clrIdx="298"/>
  <p:cmAuthor id="300" name="未知的使用者198" initials="未" lastIdx="0" clrIdx="299"/>
  <p:cmAuthor id="301" name="缪" initials="缪" lastIdx="0" clrIdx="300"/>
  <p:cmAuthor id="302" name="未知的使用者205" initials="未" lastIdx="0" clrIdx="301"/>
  <p:cmAuthor id="303" name="ZHX" initials="Z" lastIdx="0" clrIdx="302"/>
  <p:cmAuthor id="304" name="未知的使用者200" initials="未" lastIdx="0" clrIdx="303"/>
  <p:cmAuthor id="305" name="晓辉" initials="晓辉" lastIdx="0" clrIdx="304"/>
  <p:cmAuthor id="306" name="未知的使用者181" initials="未" lastIdx="0" clrIdx="305"/>
  <p:cmAuthor id="307" name="未知的使用者194" initials="未" lastIdx="0" clrIdx="306"/>
  <p:cmAuthor id="308" name="未知的使用者182" initials="未" lastIdx="0" clrIdx="307"/>
  <p:cmAuthor id="309" name="未知的使用者183" initials="未" lastIdx="0" clrIdx="308"/>
  <p:cmAuthor id="310" name="未知的使用者184" initials="未" lastIdx="0" clrIdx="309"/>
  <p:cmAuthor id="311" name="未知的使用者185" initials="未" lastIdx="0" clrIdx="310"/>
  <p:cmAuthor id="312" name="未知的使用者186" initials="未" lastIdx="0" clrIdx="311"/>
  <p:cmAuthor id="313" name="未知的使用者187" initials="未" lastIdx="0" clrIdx="312"/>
  <p:cmAuthor id="314" name="未知的使用者201" initials="未" lastIdx="0" clrIdx="313"/>
  <p:cmAuthor id="315" name="未知的使用者202" initials="未" lastIdx="0" clrIdx="314"/>
  <p:cmAuthor id="316" name="未知的使用者171" initials="未" lastIdx="0" clrIdx="315"/>
  <p:cmAuthor id="317" name="未知的使用者195" initials="未" lastIdx="0" clrIdx="316"/>
  <p:cmAuthor id="318" name="未知的使用者173" initials="未" lastIdx="0" clrIdx="317"/>
  <p:cmAuthor id="319" name="未知的使用者196" initials="未" lastIdx="0" clrIdx="318"/>
  <p:cmAuthor id="320" name="未知的使用者175" initials="未" lastIdx="0" clrIdx="319"/>
  <p:cmAuthor id="321" name="未知的使用者203" initials="未" lastIdx="0" clrIdx="320"/>
  <p:cmAuthor id="322" name="未知的使用者204" initials="未" lastIdx="0" clrIdx="321"/>
  <p:cmAuthor id="323" name="未知的使用者59" initials="未" lastIdx="0" clrIdx="322"/>
  <p:cmAuthor id="324" name="未知的使用者42" initials="未" lastIdx="0" clrIdx="323"/>
  <p:cmAuthor id="325" name="未知用户53" initials="未" lastIdx="0" clrIdx="324"/>
  <p:cmAuthor id="326" name="未知用户48" initials="未" lastIdx="0" clrIdx="325"/>
  <p:cmAuthor id="327" name="未知用户49" initials="未" lastIdx="0" clrIdx="326"/>
  <p:cmAuthor id="328" name="未知的使用者61" initials="未" lastIdx="0" clrIdx="327"/>
  <p:cmAuthor id="329" name="未知的使用者62" initials="未" lastIdx="0" clrIdx="328"/>
  <p:cmAuthor id="330" name="未知的使用者58" initials="未" lastIdx="0" clrIdx="329"/>
  <p:cmAuthor id="331" name="未知用户50" initials="未" lastIdx="0" clrIdx="330"/>
  <p:cmAuthor id="332" name="未知用户52" initials="未" lastIdx="0" clrIdx="331"/>
  <p:cmAuthor id="333" name="未知的使用者109" initials="未" lastIdx="0" clrIdx="332"/>
  <p:cmAuthor id="334" name="未知的使用者122" initials="未" lastIdx="0" clrIdx="333"/>
  <p:cmAuthor id="335" name="未知的使用者123" initials="未" lastIdx="0" clrIdx="334"/>
  <p:cmAuthor id="336" name="未知的使用者124" initials="未" lastIdx="0" clrIdx="335"/>
  <p:cmAuthor id="337" name="未知的使用者125" initials="未" lastIdx="0" clrIdx="336"/>
  <p:cmAuthor id="338" name="未知的使用者126" initials="未" lastIdx="0" clrIdx="337"/>
  <p:cmAuthor id="339" name="xuanyuanxuanyi dad" initials="xd" lastIdx="0" clrIdx="338"/>
  <p:cmAuthor id="340" name="kingdee" initials="k" lastIdx="0" clrIdx="339"/>
  <p:cmAuthor id="341" name="尹垚" initials="尹" lastIdx="0" clrIdx="340"/>
  <p:cmAuthor id="342" name="未知用户112" initials="未" lastIdx="0" clrIdx="341"/>
  <p:cmAuthor id="343" name="36939" initials="3" lastIdx="0" clrIdx="342"/>
  <p:cmAuthor id="344" name="彭佳华" initials="彭" lastIdx="0" clrIdx="343"/>
  <p:cmAuthor id="345" name="Think" initials="T" lastIdx="0" clrIdx="344"/>
  <p:cmAuthor id="346" name="小石头" initials="小" lastIdx="0" clrIdx="345"/>
  <p:cmAuthor id="347" name="未知用户97" initials="未" lastIdx="0" clrIdx="346"/>
  <p:cmAuthor id="348" name="rayle" initials="r" lastIdx="0" clrIdx="347"/>
  <p:cmAuthor id="349" name="啊凤" initials="啊" lastIdx="0" clrIdx="348"/>
  <p:cmAuthor id="350" name="未知用户179" initials="未" lastIdx="0" clrIdx="349"/>
  <p:cmAuthor id="351" name="Unknown User112" initials="U" lastIdx="0" clrIdx="350"/>
  <p:cmAuthor id="352" name="Unknown User59" initials="U" lastIdx="0" clrIdx="351"/>
  <p:cmAuthor id="353" name="Unknown User113" initials="U" lastIdx="0" clrIdx="352"/>
  <p:cmAuthor id="354" name="Unknown User114" initials="U" lastIdx="0" clrIdx="353"/>
  <p:cmAuthor id="355" name="Unknown User111" initials="U" lastIdx="0" clrIdx="354"/>
  <p:cmAuthor id="356" name="Unknown User117" initials="U" lastIdx="0" clrIdx="355"/>
  <p:cmAuthor id="357" name="Unknown User63" initials="U" lastIdx="0" clrIdx="356"/>
  <p:cmAuthor id="358" name="周文_R7fau6bq" initials="authorId_265585642" lastIdx="0" clrIdx="357"/>
  <p:cmAuthor id="359" name="Unknown User115" initials="U" lastIdx="0" clrIdx="358"/>
  <p:cmAuthor id="360" name="zhang shaohui" initials="zs" lastIdx="0" clrIdx="359"/>
  <p:cmAuthor id="361" name="Unknown User116" initials="U" lastIdx="0" clrIdx="360"/>
  <p:cmAuthor id="362" name="王竑达" initials="王竑达" lastIdx="0" clrIdx="361"/>
  <p:cmAuthor id="363" name="Unknown User65" initials="U" lastIdx="0" clrIdx="362"/>
  <p:cmAuthor id="364" name="梁鹏" initials="u" lastIdx="0" clrIdx="363"/>
  <p:cmAuthor id="365" name="Unknown User66" initials="U" lastIdx="0" clrIdx="364"/>
  <p:cmAuthor id="366" name="范 斌" initials="范" lastIdx="0" clrIdx="365"/>
  <p:cmAuthor id="367" name="MA15" initials="M" lastIdx="0" clrIdx="366"/>
  <p:cmAuthor id="368" name="王春泽" initials="l" lastIdx="0" clrIdx="367"/>
  <p:cmAuthor id="369" name="未知用户189" initials="未" lastIdx="0" clrIdx="368"/>
  <p:cmAuthor id="370" name="Minnie 周" initials="M周" lastIdx="0" clrIdx="369"/>
  <p:cmAuthor id="371" name="Unknown User69" initials="U" lastIdx="0" clrIdx="370"/>
  <p:cmAuthor id="372" name="raymond luan" initials="r" lastIdx="0" clrIdx="371"/>
  <p:cmAuthor id="373" name="未知的使用者86" initials="未" lastIdx="0" clrIdx="372"/>
  <p:cmAuthor id="374" name="未知的使用者127" initials="未" lastIdx="0" clrIdx="373"/>
  <p:cmAuthor id="375" name="未知的使用者128" initials="未" lastIdx="0" clrIdx="374"/>
  <p:cmAuthor id="376" name="未知的使用者155" initials="未" lastIdx="0" clrIdx="375"/>
  <p:cmAuthor id="377" name="Sara Chen" initials="S" lastIdx="0" clrIdx="376"/>
  <p:cmAuthor id="378" name="未知的使用者44" initials="未" lastIdx="0" clrIdx="377"/>
  <p:cmAuthor id="379" name="未知的使用者45" initials="未" lastIdx="0" clrIdx="378"/>
  <p:cmAuthor id="380" name="仝德志" initials="仝" lastIdx="0" clrIdx="379"/>
  <p:cmAuthor id="381" name="PC" initials="P" lastIdx="0" clrIdx="380"/>
  <p:cmAuthor id="382" name="hanjuncompany" initials="h" lastIdx="0" clrIdx="381"/>
  <p:cmAuthor id="383" name="未知的使用者161" initials="未" lastIdx="0" clrIdx="382"/>
  <p:cmAuthor id="384" name="未知的使用者152" initials="未" lastIdx="0" clrIdx="383"/>
  <p:cmAuthor id="385" name="未知的使用者176" initials="未" lastIdx="0" clrIdx="384"/>
  <p:cmAuthor id="386" name="未知的使用者178" initials="未" lastIdx="0" clrIdx="385"/>
  <p:cmAuthor id="387" name="未知的使用者179" initials="未" lastIdx="0" clrIdx="386"/>
  <p:cmAuthor id="388" name="未知的使用者180" initials="未" lastIdx="0" clrIdx="387"/>
  <p:cmAuthor id="389" name="CHRISYU" initials="C" lastIdx="0" clrIdx="388"/>
  <p:cmAuthor id="390" name="liucunri" initials="l" lastIdx="0" clrIdx="389"/>
  <p:cmAuthor id="391" name="未知的使用者141" initials="未" lastIdx="0" clrIdx="390"/>
  <p:cmAuthor id="392" name="未知的使用者142" initials="未" lastIdx="0" clrIdx="391"/>
  <p:cmAuthor id="393" name="未知的使用者143" initials="未" lastIdx="0" clrIdx="392"/>
  <p:cmAuthor id="394" name="刘云轩" initials="刘" lastIdx="0" clrIdx="393"/>
  <p:cmAuthor id="395" name="sharon" initials="s" lastIdx="0" clrIdx="394"/>
  <p:cmAuthor id="396" name="未知用户131" initials="未" lastIdx="0" clrIdx="395"/>
  <p:cmAuthor id="397" name="未知用户134" initials="未" lastIdx="0" clrIdx="396"/>
  <p:cmAuthor id="398" name="未知用户135" initials="未" lastIdx="0" clrIdx="397"/>
  <p:cmAuthor id="399" name="未知用户136" initials="未" lastIdx="0" clrIdx="398"/>
  <p:cmAuthor id="400" name="Yoyo Wu" initials="Y" lastIdx="0" clrIdx="399"/>
  <p:cmAuthor id="401" name="未知的使用者222" initials="" lastIdx="0" clrIdx="400"/>
  <p:cmAuthor id="402" name="未知的使用者225" initials="" lastIdx="0" clrIdx="401"/>
  <p:cmAuthor id="403" name="未知用户133" initials="未" lastIdx="0" clrIdx="402"/>
  <p:cmAuthor id="404" name="zhangbin" initials="z" lastIdx="0" clrIdx="403"/>
  <p:cmAuthor id="405" name="未知的使用者232" initials="" lastIdx="0" clrIdx="404"/>
  <p:cmAuthor id="406" name="未知用户330" initials="未" lastIdx="0" clrIdx="405"/>
  <p:cmAuthor id="407" name="未知用户177" initials="未" lastIdx="0" clrIdx="406"/>
  <p:cmAuthor id="408" name="未知用户184" initials="未" lastIdx="0" clrIdx="407"/>
  <p:cmAuthor id="409" name="未知用户181" initials="未" lastIdx="0" clrIdx="408"/>
  <p:cmAuthor id="410" name="未知用户182" initials="未" lastIdx="0" clrIdx="409"/>
  <p:cmAuthor id="411" name="未知用户204" initials="未" lastIdx="0" clrIdx="410"/>
  <p:cmAuthor id="412" name="未知用户205" initials="未" lastIdx="0" clrIdx="411"/>
  <p:cmAuthor id="413" name="未知用户193" initials="未" lastIdx="0" clrIdx="412"/>
  <p:cmAuthor id="414" name="未知用户194" initials="未" lastIdx="0" clrIdx="413"/>
  <p:cmAuthor id="415" name="未知用户187" initials="未" lastIdx="0" clrIdx="414"/>
  <p:cmAuthor id="416" name="Kent" initials="K" lastIdx="0" clrIdx="415"/>
  <p:cmAuthor id="417" name="留毓吟" initials="留" lastIdx="0" clrIdx="416"/>
  <p:cmAuthor id="418" name="王嘉偉" initials="王" lastIdx="0" clrIdx="417"/>
  <p:cmAuthor id="419" name="dcis" initials="d" lastIdx="0" clrIdx="418"/>
  <p:cmAuthor id="420" name="FanJQ" initials="F" lastIdx="0" clrIdx="419"/>
  <p:cmAuthor id="421" name="未知用户211" initials="未" lastIdx="0" clrIdx="420"/>
  <p:cmAuthor id="422" name="未知用户212" initials="未" lastIdx="0" clrIdx="421"/>
  <p:cmAuthor id="423" name="未知用户210" initials="未" lastIdx="0" clrIdx="422"/>
  <p:cmAuthor id="424" name="未知用户201" initials="未" lastIdx="0" clrIdx="423"/>
  <p:cmAuthor id="425" name="未知用户161" initials="未" lastIdx="0" clrIdx="424"/>
  <p:cmAuthor id="426" name="未知用户183" initials="未" lastIdx="0" clrIdx="425"/>
  <p:cmAuthor id="427" name="未知用户162" initials="未" lastIdx="0" clrIdx="426"/>
  <p:cmAuthor id="428" name="未知用户163" initials="未" lastIdx="0" clrIdx="427"/>
  <p:cmAuthor id="429" name="未知用户164" initials="未" lastIdx="0" clrIdx="428"/>
  <p:cmAuthor id="430" name="未知用户165" initials="未" lastIdx="0" clrIdx="429"/>
  <p:cmAuthor id="431" name="未知用户191" initials="未" lastIdx="0" clrIdx="430"/>
  <p:cmAuthor id="432" name="未知用户167" initials="未" lastIdx="0" clrIdx="431"/>
  <p:cmAuthor id="433" name="未知用户202" initials="未" lastIdx="0" clrIdx="432"/>
  <p:cmAuthor id="434" name="未知用户169" initials="未" lastIdx="0" clrIdx="433"/>
  <p:cmAuthor id="435" name="未知用户192" initials="未" lastIdx="0" clrIdx="434"/>
  <p:cmAuthor id="436" name="未知用户203" initials="未" lastIdx="0" clrIdx="435"/>
  <p:cmAuthor id="437" name="未知用户174" initials="未" lastIdx="0" clrIdx="436"/>
  <p:cmAuthor id="438" name="未知用户175" initials="未" lastIdx="0" clrIdx="437"/>
  <p:cmAuthor id="439" name="未知用户176" initials="未" lastIdx="0" clrIdx="438"/>
  <p:cmAuthor id="440" name="未知用户137" initials="未" lastIdx="0" clrIdx="439"/>
  <p:cmAuthor id="441" name="不明使用者7" initials="不" lastIdx="0" clrIdx="440"/>
  <p:cmAuthor id="442" name="未知用户120" initials="未" lastIdx="0" clrIdx="441"/>
  <p:cmAuthor id="443" name="未知用户122" initials="未" lastIdx="0" clrIdx="442"/>
  <p:cmAuthor id="444" name="未知用户132" initials="未" lastIdx="0" clrIdx="443"/>
  <p:cmAuthor id="445" name="未知用户141" initials="未" lastIdx="0" clrIdx="444"/>
  <p:cmAuthor id="446" name="未知用户143" initials="未" lastIdx="0" clrIdx="445"/>
  <p:cmAuthor id="447" name="未知用户144" initials="未" lastIdx="0" clrIdx="446"/>
  <p:cmAuthor id="448" name="未知用户145" initials="未" lastIdx="0" clrIdx="447"/>
  <p:cmAuthor id="449" name="未知用户119" initials="未" lastIdx="0" clrIdx="448"/>
  <p:cmAuthor id="450" name="未知用户140" initials="未" lastIdx="0" clrIdx="449"/>
  <p:cmAuthor id="451" name="未知用户142" initials="未" lastIdx="0" clrIdx="450"/>
  <p:cmAuthor id="452" name="未知用户157" initials="未" lastIdx="0" clrIdx="451"/>
  <p:cmAuthor id="453" name="未知用户158" initials="未" lastIdx="0" clrIdx="452"/>
  <p:cmAuthor id="454" name="未知用户159" initials="未" lastIdx="0" clrIdx="453"/>
  <p:cmAuthor id="455" name="未知用户160" initials="未" lastIdx="0" clrIdx="454"/>
  <p:cmAuthor id="456" name="未知用户168" initials="未" lastIdx="0" clrIdx="455"/>
  <p:cmAuthor id="457" name="順天" initials="順" lastIdx="0" clrIdx="456"/>
  <p:cmAuthor id="458" name="未知用户287" initials="未" lastIdx="0" clrIdx="457"/>
  <p:cmAuthor id="459" name="未知用户288" initials="未" lastIdx="0" clrIdx="458"/>
  <p:cmAuthor id="460" name="未知用户289" initials="未" lastIdx="0" clrIdx="459"/>
  <p:cmAuthor id="461" name="未知用户206" initials="未" lastIdx="0" clrIdx="460"/>
  <p:cmAuthor id="462" name="未知用户46" initials="未" lastIdx="0" clrIdx="461"/>
  <p:cmAuthor id="463" name="nancy" initials="n" lastIdx="0" clrIdx="462"/>
  <p:cmAuthor id="464" name="未知用户166" initials="未" lastIdx="0" clrIdx="463"/>
  <p:cmAuthor id="465" name="未知用户195" initials="未" lastIdx="0" clrIdx="464"/>
  <p:cmAuthor id="466" name="未知用户207" initials="未" lastIdx="0" clrIdx="465"/>
  <p:cmAuthor id="467" name="未知的使用者207" initials="未" lastIdx="0" clrIdx="466"/>
  <p:cmAuthor id="468" name="未知的使用者208" initials="未" lastIdx="0" clrIdx="467"/>
  <p:cmAuthor id="469" name="未知的使用者188" initials="未" lastIdx="0" clrIdx="468"/>
  <p:cmAuthor id="470" name="未知的使用者189" initials="未" lastIdx="0" clrIdx="469"/>
  <p:cmAuthor id="471" name="未知的使用者190" initials="未" lastIdx="0" clrIdx="470"/>
  <p:cmAuthor id="472" name="未知的使用者191" initials="未" lastIdx="0" clrIdx="471"/>
  <p:cmAuthor id="473" name="未知的使用者192" initials="未" lastIdx="0" clrIdx="472"/>
  <p:cmAuthor id="474" name="未知的使用者193" initials="未" lastIdx="0" clrIdx="473"/>
  <p:cmAuthor id="475" name="未知的使用者209" initials="未" lastIdx="0" clrIdx="474"/>
  <p:cmAuthor id="476" name="未知的使用者210" initials="未" lastIdx="0" clrIdx="475"/>
  <p:cmAuthor id="477" name="未知的使用者211" initials="未" lastIdx="0" clrIdx="476"/>
  <p:cmAuthor id="478" name="未知的使用者212" initials="未" lastIdx="0" clrIdx="477"/>
  <p:cmAuthor id="479" name="未知的使用者213" initials="未" lastIdx="0" clrIdx="478"/>
  <p:cmAuthor id="480" name="未知的使用者214" initials="未" lastIdx="0" clrIdx="479"/>
  <p:cmAuthor id="481" name="未知的使用者215" initials="未" lastIdx="0" clrIdx="480"/>
  <p:cmAuthor id="482" name="未知的使用者216" initials="未" lastIdx="0" clrIdx="481"/>
  <p:cmAuthor id="483" name="未知的使用者217" initials="未" lastIdx="0" clrIdx="482"/>
  <p:cmAuthor id="484" name="未知的使用者218" initials="未" lastIdx="0" clrIdx="483"/>
  <p:cmAuthor id="485" name="未知的使用者219" initials="未" lastIdx="0" clrIdx="484"/>
  <p:cmAuthor id="486" name="未知的使用者220" initials="未" lastIdx="0" clrIdx="485"/>
  <p:cmAuthor id="487" name="未知的使用者153" initials="未" lastIdx="0" clrIdx="486"/>
  <p:cmAuthor id="488" name="未知的使用者154" initials="未" lastIdx="0" clrIdx="487"/>
  <p:cmAuthor id="489" name="未知的使用者129" initials="未" lastIdx="0" clrIdx="488"/>
  <p:cmAuthor id="490" name="未知的使用者130" initials="未" lastIdx="0" clrIdx="489"/>
  <p:cmAuthor id="491" name="未知的使用者131" initials="未" lastIdx="0" clrIdx="490"/>
  <p:cmAuthor id="492" name="未知的使用者132" initials="未" lastIdx="0" clrIdx="491"/>
  <p:cmAuthor id="493" name="未知的使用者164" initials="未" lastIdx="0" clrIdx="492"/>
  <p:cmAuthor id="494" name="未知的使用者172" initials="未" lastIdx="0" clrIdx="493"/>
  <p:cmAuthor id="495" name="未知的使用者174" initials="未" lastIdx="0" clrIdx="494"/>
  <p:cmAuthor id="496" name="未知的使用者247" initials="未" lastIdx="0" clrIdx="495"/>
  <p:cmAuthor id="497" name="未知的使用者249" initials="未" lastIdx="0" clrIdx="496"/>
  <p:cmAuthor id="498" name="未知的使用者250" initials="未" lastIdx="0" clrIdx="497"/>
  <p:cmAuthor id="499" name="未知的使用者251" initials="未" lastIdx="0" clrIdx="498"/>
  <p:cmAuthor id="500" name="未知的使用者246" initials="未" lastIdx="0" clrIdx="499"/>
  <p:cmAuthor id="501" name="未知的使用者224" initials="未" lastIdx="0" clrIdx="500"/>
  <p:cmAuthor id="502" name="未知的使用者252" initials="未" lastIdx="0" clrIdx="501"/>
  <p:cmAuthor id="503" name="未知的使用者253" initials="未" lastIdx="0" clrIdx="502"/>
  <p:cmAuthor id="504" name="未知的使用者254" initials="未" lastIdx="0" clrIdx="503"/>
  <p:cmAuthor id="505" name="未知的使用者255" initials="未" lastIdx="0" clrIdx="504"/>
  <p:cmAuthor id="506" name="未知的使用者226" initials="未" lastIdx="0" clrIdx="505"/>
  <p:cmAuthor id="507" name="未知的使用者227" initials="未" lastIdx="0" clrIdx="506"/>
  <p:cmAuthor id="508" name="未知的使用者270" initials="未" lastIdx="0" clrIdx="507"/>
  <p:cmAuthor id="509" name="未知的使用者228" initials="未" lastIdx="0" clrIdx="508"/>
  <p:cmAuthor id="510" name="未知的使用者229" initials="未" lastIdx="0" clrIdx="509"/>
  <p:cmAuthor id="511" name="未知的使用者230" initials="未" lastIdx="0" clrIdx="510"/>
  <p:cmAuthor id="512" name="未知的使用者231" initials="未" lastIdx="0" clrIdx="511"/>
  <p:cmAuthor id="513" name="未知的使用者256" initials="未" lastIdx="0" clrIdx="512"/>
  <p:cmAuthor id="514" name="未知的使用者233" initials="未" lastIdx="0" clrIdx="513"/>
  <p:cmAuthor id="515" name="未知的使用者234" initials="未" lastIdx="0" clrIdx="514"/>
  <p:cmAuthor id="516" name="未知的使用者235" initials="未" lastIdx="0" clrIdx="515"/>
  <p:cmAuthor id="517" name="未知的使用者236" initials="未" lastIdx="0" clrIdx="516"/>
  <p:cmAuthor id="518" name="未知的使用者257" initials="未" lastIdx="0" clrIdx="517"/>
  <p:cmAuthor id="519" name="未知的使用者237" initials="未" lastIdx="0" clrIdx="518"/>
  <p:cmAuthor id="520" name="未知的使用者238" initials="未" lastIdx="0" clrIdx="519"/>
  <p:cmAuthor id="521" name="未知的使用者239" initials="未" lastIdx="0" clrIdx="520"/>
  <p:cmAuthor id="522" name="未知的使用者240" initials="未" lastIdx="0" clrIdx="521"/>
  <p:cmAuthor id="523" name="未知的使用者241" initials="未" lastIdx="0" clrIdx="522"/>
  <p:cmAuthor id="524" name="未知的使用者242" initials="未" lastIdx="0" clrIdx="523"/>
  <p:cmAuthor id="525" name="未知的使用者243" initials="未" lastIdx="0" clrIdx="524"/>
  <p:cmAuthor id="526" name="未知的使用者258" initials="未" lastIdx="0" clrIdx="525"/>
  <p:cmAuthor id="527" name="未知的使用者259" initials="未" lastIdx="0" clrIdx="526"/>
  <p:cmAuthor id="528" name="未知的使用者260" initials="未" lastIdx="0" clrIdx="527"/>
  <p:cmAuthor id="529" name="未知的使用者261" initials="未" lastIdx="0" clrIdx="528"/>
  <p:cmAuthor id="530" name="未知的使用者262" initials="未" lastIdx="0" clrIdx="529"/>
  <p:cmAuthor id="531" name="未知的使用者263" initials="未" lastIdx="0" clrIdx="530"/>
  <p:cmAuthor id="532" name="未知的使用者264" initials="未" lastIdx="0" clrIdx="531"/>
  <p:cmAuthor id="533" name="未知的使用者265" initials="未" lastIdx="0" clrIdx="532"/>
  <p:cmAuthor id="534" name="未知的使用者266" initials="未" lastIdx="0" clrIdx="533"/>
  <p:cmAuthor id="535" name="未知的使用者267" initials="未" lastIdx="0" clrIdx="534"/>
  <p:cmAuthor id="536" name="未知的使用者268" initials="未" lastIdx="0" clrIdx="535"/>
  <p:cmAuthor id="537" name="未知的使用者269" initials="未" lastIdx="0" clrIdx="536"/>
  <p:cmAuthor id="538" name="lillian" initials="l" lastIdx="0" clrIdx="537"/>
  <p:cmAuthor id="539" name="未知用户197" initials="未" lastIdx="0" clrIdx="538"/>
  <p:cmAuthor id="540" name="胡琪" initials="胡琪" lastIdx="0" clrIdx="539"/>
  <p:cmAuthor id="541" name="gux" initials="g" lastIdx="0" clrIdx="540"/>
  <p:cmAuthor id="542" name="通威新能源" initials="通威新能源" lastIdx="0" clrIdx="541"/>
  <p:cmAuthor id="543" name="chen h" initials="ch" lastIdx="0" clrIdx="542"/>
  <p:cmAuthor id="544" name="田菲" initials="田" lastIdx="0" clrIdx="543"/>
  <p:cmAuthor id="545" name="Amor" initials="A" lastIdx="0" clrIdx="544"/>
  <p:cmAuthor id="546" name="Lenove" initials="L" lastIdx="0" clrIdx="545"/>
  <p:cmAuthor id="547" name="Sheng" initials="S" lastIdx="0" clrIdx="546"/>
  <p:cmAuthor id="548" name="LIUXL" initials="L" lastIdx="0" clrIdx="547"/>
  <p:cmAuthor id="549" name="ThinkPad" initials="T" lastIdx="0" clrIdx="548"/>
  <p:cmAuthor id="550" name="gao lingyun" initials="gl" lastIdx="0" clrIdx="549"/>
  <p:cmAuthor id="551" name="ADMIN" initials="A" lastIdx="0" clrIdx="55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92D050"/>
    <a:srgbClr val="A5A5A5"/>
    <a:srgbClr val="C00000"/>
    <a:srgbClr val="074353"/>
    <a:srgbClr val="D9F1F2"/>
    <a:srgbClr val="43BBBE"/>
    <a:srgbClr val="2D7D7F"/>
    <a:srgbClr val="A7DEDF"/>
    <a:srgbClr val="009D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90" d="100"/>
          <a:sy n="90" d="100"/>
        </p:scale>
        <p:origin x="37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3AB_8E469F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CD55C7-C8BE-43A5-A28E-13AF57B305D0}" authorId="{0F6C1278-841E-8C6B-0F1B-243FF842F1BA}" created="2026-08-10T09:58:15.4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86993081" sldId="939"/>
      <ac:spMk id="15" creationId="{652BA599-98BF-0C09-7EF1-E627296EB185}"/>
      <ac:txMk cp="0" len="5">
        <ac:context len="6" hash="3332134872"/>
      </ac:txMk>
    </ac:txMkLst>
    <p188:pos x="1618532" y="236417"/>
    <p188:txBody>
      <a:bodyPr/>
      <a:lstStyle/>
      <a:p>
        <a:r>
          <a:rPr lang="zh-CN" altLang="en-US"/>
          <a:t>确认是否从信数取数，还是从国际营销取数</a:t>
        </a:r>
      </a:p>
    </p188:txBody>
  </p188:cm>
</p188:cmLst>
</file>

<file path=ppt/comments/modernComment_3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7BDB189-D473-415F-B404-B47F61350E63}" authorId="{0F6C1278-841E-8C6B-0F1B-243FF842F1BA}" created="2026-08-10T10:02:05.60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774"/>
      <ac:spMk id="27" creationId="{00000000-0000-0000-0000-000000000000}"/>
      <ac:txMk cp="3" len="3">
        <ac:context len="7" hash="3019252441"/>
      </ac:txMk>
    </ac:txMkLst>
    <p188:pos x="993896" y="179156"/>
    <p188:txBody>
      <a:bodyPr/>
      <a:lstStyle/>
      <a:p>
        <a:r>
          <a:rPr lang="zh-CN" altLang="en-US"/>
          <a:t>BSIS是否分账期，如果不分账期可以从科目余额表取</a:t>
        </a:r>
      </a:p>
    </p188:txBody>
  </p188:cm>
  <p188:cm id="{DF8528BA-B662-44B4-B637-F936A4B6C314}" authorId="{0F6C1278-841E-8C6B-0F1B-243FF842F1BA}" created="2026-08-10T10:02:58.9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774"/>
      <ac:spMk id="7" creationId="{59363289-B218-0C1C-6F11-9765DFDA5E35}"/>
      <ac:txMk cp="12" len="7">
        <ac:context len="21" hash="2557763423"/>
      </ac:txMk>
    </ac:txMkLst>
    <p188:pos x="1027358" y="502619"/>
    <p188:replyLst>
      <p188:reply id="{988C9794-62A5-4868-9F75-71B6760FA160}" authorId="{0F6C1278-841E-8C6B-0F1B-243FF842F1BA}" created="2026-08-10T10:05:22.567">
        <p188:txBody>
          <a:bodyPr/>
          <a:lstStyle/>
          <a:p>
            <a:r>
              <a:rPr lang="zh-CN" altLang="en-US"/>
              <a:t>1、利润中心是否按照明细利润中心做重分类；
2、单个公司重分类和事业部重分类逻辑是否一致；</a:t>
            </a:r>
          </a:p>
        </p188:txBody>
      </p188:reply>
      <p188:reply id="{0DB42C3B-88D2-42E5-AE65-B1625A8334DE}" authorId="{0F6C1278-841E-8C6B-0F1B-243FF842F1BA}" created="2026-08-11T07:05:09.358">
        <p188:txBody>
          <a:bodyPr/>
          <a:lstStyle/>
          <a:p>
            <a:r>
              <a:rPr lang="zh-CN" altLang="en-US"/>
              <a:t>1、待和显示确认；2、总分公司合并重分类待确认。</a:t>
            </a:r>
          </a:p>
        </p188:txBody>
      </p188:reply>
    </p188:replyLst>
    <p188:txBody>
      <a:bodyPr/>
      <a:lstStyle/>
      <a:p>
        <a:r>
          <a:rPr lang="zh-CN" altLang="en-US"/>
          <a:t>具体重分类的处理明确写出来</a:t>
        </a:r>
      </a:p>
    </p188:txBody>
  </p188:cm>
  <p188:cm id="{8152D43A-2039-4A91-A9BA-2D4179548EC6}" authorId="{0F6C1278-841E-8C6B-0F1B-243FF842F1BA}" created="2026-08-10T10:13:11.5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774"/>
      <ac:spMk id="51" creationId="{80C76C49-66CD-45D1-1367-32A3C193C97E}"/>
      <ac:txMk cp="0" len="7">
        <ac:context len="8" hash="701263554"/>
      </ac:txMk>
    </ac:txMkLst>
    <p188:pos x="1044965" y="225703"/>
    <p188:txBody>
      <a:bodyPr/>
      <a:lstStyle/>
      <a:p>
        <a:r>
          <a:rPr lang="zh-CN" altLang="en-US"/>
          <a:t>设计一个和三个的区别</a:t>
        </a:r>
      </a:p>
    </p188:txBody>
  </p188:cm>
  <p188:cm id="{6D4FC680-B0F7-427C-9398-693688EFEC9C}" authorId="{0F6C1278-841E-8C6B-0F1B-243FF842F1BA}" created="2026-08-10T10:16:10.83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774"/>
      <ac:spMk id="77" creationId="{00000000-0000-0000-0000-000000000000}"/>
      <ac:txMk cp="0" len="8">
        <ac:context len="9" hash="2346616174"/>
      </ac:txMk>
    </ac:txMkLst>
    <p188:pos x="739896" y="140526"/>
    <p188:replyLst>
      <p188:reply id="{DDD2A199-B084-423D-995E-B755E786293B}" authorId="{0F6C1278-841E-8C6B-0F1B-243FF842F1BA}" created="2026-08-12T06:10:05.420">
        <p188:txBody>
          <a:bodyPr/>
          <a:lstStyle/>
          <a:p>
            <a:r>
              <a:rPr lang="zh-CN" altLang="en-US"/>
              <a:t>0812确认保持现状，按照天来计算</a:t>
            </a:r>
          </a:p>
        </p188:txBody>
      </p188:reply>
    </p188:replyLst>
    <p188:txBody>
      <a:bodyPr/>
      <a:lstStyle/>
      <a:p>
        <a:r>
          <a:rPr lang="zh-CN" altLang="en-US"/>
          <a:t>账龄段计算的判断逻辑，按照天还是月来判断；</a:t>
        </a:r>
      </a:p>
    </p188:txBody>
  </p188:cm>
  <p188:cm id="{812F76E4-AEDE-46FA-BEBB-E5CE1275A4EE}" authorId="{0F6C1278-841E-8C6B-0F1B-243FF842F1BA}" created="2026-08-10T10:41:00.0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774"/>
      <ac:spMk id="71" creationId="{00000000-0000-0000-0000-000000000000}"/>
      <ac:txMk cp="4" len="4">
        <ac:context len="30" hash="2119619156"/>
      </ac:txMk>
    </ac:txMkLst>
    <p188:pos x="1086548" y="211266"/>
    <p188:replyLst>
      <p188:reply id="{6A666D45-DE62-494B-8E7A-9B9BC64D4BA4}" authorId="{0F6C1278-841E-8C6B-0F1B-243FF842F1BA}" created="2026-08-10T10:43:42.464">
        <p188:txBody>
          <a:bodyPr/>
          <a:lstStyle/>
          <a:p>
            <a:r>
              <a:rPr lang="zh-CN" altLang="en-US"/>
              <a:t>出库未开、退货补充</a:t>
            </a:r>
          </a:p>
        </p188:txBody>
      </p188:reply>
      <p188:reply id="{3BAA146B-48A9-4F95-86CE-12FF80036B55}" authorId="{0F6C1278-841E-8C6B-0F1B-243FF842F1BA}" created="2026-08-10T10:52:31.831">
        <p188:txBody>
          <a:bodyPr/>
          <a:lstStyle/>
          <a:p>
            <a:r>
              <a:rPr lang="zh-CN" altLang="en-US"/>
              <a:t>根据不同的数据类别看放在行上还是列上</a:t>
            </a:r>
          </a:p>
        </p188:txBody>
      </p188:reply>
    </p188:replyLst>
    <p188:txBody>
      <a:bodyPr/>
      <a:lstStyle/>
      <a:p>
        <a:r>
          <a:rPr lang="zh-CN" altLang="en-US"/>
          <a:t>体现出具体的调整逻辑</a:t>
        </a:r>
      </a:p>
    </p188:txBody>
  </p188:cm>
  <p188:cm id="{CA214C65-CD1A-4BC7-AAB1-B64B81409D68}" authorId="{0F6C1278-841E-8C6B-0F1B-243FF842F1BA}" created="2026-08-10T11:07:14.33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774"/>
      <ac:spMk id="284" creationId="{3D8DA344-3C88-92F6-8318-93063ED30F57}"/>
      <ac:txMk cp="3" len="6">
        <ac:context len="25" hash="2506501303"/>
      </ac:txMk>
    </ac:txMkLst>
    <p188:txBody>
      <a:bodyPr/>
      <a:lstStyle/>
      <a:p>
        <a:r>
          <a:rPr lang="zh-CN" altLang="en-US"/>
          <a:t>周转计算模型，需要配置从哪些表单里取占用和耗用，计算不同的周转天数的口径。</a:t>
        </a:r>
      </a:p>
    </p188:txBody>
  </p188:cm>
  <p188:cm id="{5A98E32D-D90C-4090-9A05-C34791B068F8}" authorId="{0F6C1278-841E-8C6B-0F1B-243FF842F1BA}" created="2026-08-10T11:15:52.3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774"/>
      <ac:spMk id="100" creationId="{8F04F1DD-78D9-3E97-85C7-9EF28A568601}"/>
      <ac:txMk cp="5" len="5">
        <ac:context len="31" hash="1084938184"/>
      </ac:txMk>
    </ac:txMkLst>
    <p188:pos x="1225682" y="234070"/>
    <p188:txBody>
      <a:bodyPr/>
      <a:lstStyle/>
      <a:p>
        <a:r>
          <a:rPr lang="zh-CN" altLang="en-US"/>
          <a:t>法人和管理是否要分两套</a:t>
        </a:r>
      </a:p>
    </p188:txBody>
  </p188:cm>
  <p188:cm id="{0BF4EBFA-A989-44A8-B359-1B960B1ED406}" authorId="{0F6C1278-841E-8C6B-0F1B-243FF842F1BA}" created="2026-08-10T11:19:45.50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774"/>
      <ac:spMk id="102" creationId="{60C09ACC-4E49-FADE-3992-28B058739F45}"/>
      <ac:txMk cp="7" len="3">
        <ac:context len="17" hash="2428889160"/>
      </ac:txMk>
    </ac:txMkLst>
    <p188:pos x="1205255" y="219426"/>
    <p188:txBody>
      <a:bodyPr/>
      <a:lstStyle/>
      <a:p>
        <a:r>
          <a:rPr lang="zh-CN" altLang="en-US"/>
          <a:t>周转天数的结果需要存在S表中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4545-1407-934D-85F3-FE67D3EA6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60285E-7050-620D-8C99-2EE572754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54D182-9CE4-0102-B12F-E9DB40658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250C63-D042-4906-F59F-283B980A5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131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7DCD-3ACE-008C-608B-A3B6571D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5CA2BF-0951-BEF2-4D1A-B64E50ABD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1824CB-A482-5A97-D98A-6794C7C1C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55F043-FED8-1453-8EB0-7E2588DE6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77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tif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224001" y="2486400"/>
            <a:ext cx="5812948" cy="9438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335" b="1">
                <a:solidFill>
                  <a:srgbClr val="00AA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过渡页标题</a:t>
            </a:r>
            <a:r>
              <a:rPr lang="en-US" altLang="zh-CN" dirty="0"/>
              <a:t>/</a:t>
            </a:r>
            <a:r>
              <a:rPr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1872000" y="3566400"/>
            <a:ext cx="4516800" cy="6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00AA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过渡页副标题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目录内容</a:t>
            </a:r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21660" y="0"/>
            <a:ext cx="11348680" cy="839893"/>
            <a:chOff x="511059" y="0"/>
            <a:chExt cx="11007321" cy="81463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76541" y="0"/>
              <a:ext cx="2141839" cy="769256"/>
            </a:xfrm>
            <a:prstGeom prst="rect">
              <a:avLst/>
            </a:prstGeom>
            <a:solidFill>
              <a:srgbClr val="00AAA6"/>
            </a:solidFill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1689" y="251412"/>
              <a:ext cx="1688108" cy="266431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511059" y="696513"/>
              <a:ext cx="9435581" cy="118117"/>
              <a:chOff x="511059" y="687369"/>
              <a:chExt cx="9435581" cy="118117"/>
            </a:xfrm>
          </p:grpSpPr>
          <p:cxnSp>
            <p:nvCxnSpPr>
              <p:cNvPr id="11" name="直线连接符 17"/>
              <p:cNvCxnSpPr/>
              <p:nvPr/>
            </p:nvCxnSpPr>
            <p:spPr>
              <a:xfrm>
                <a:off x="582179" y="752222"/>
                <a:ext cx="9364461" cy="0"/>
              </a:xfrm>
              <a:prstGeom prst="line">
                <a:avLst/>
              </a:prstGeom>
              <a:ln w="12700">
                <a:solidFill>
                  <a:srgbClr val="049D9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椭圆 11"/>
              <p:cNvSpPr/>
              <p:nvPr/>
            </p:nvSpPr>
            <p:spPr>
              <a:xfrm>
                <a:off x="511059" y="687369"/>
                <a:ext cx="118117" cy="118117"/>
              </a:xfrm>
              <a:prstGeom prst="ellipse">
                <a:avLst/>
              </a:prstGeom>
              <a:solidFill>
                <a:srgbClr val="00AA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618067" y="258234"/>
            <a:ext cx="7865533" cy="4598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AA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标题位置及内容规范（此处为主标题）</a:t>
            </a:r>
          </a:p>
        </p:txBody>
      </p:sp>
      <p:sp>
        <p:nvSpPr>
          <p:cNvPr id="14" name="对角圆角矩形 5"/>
          <p:cNvSpPr/>
          <p:nvPr userDrawn="1"/>
        </p:nvSpPr>
        <p:spPr>
          <a:xfrm>
            <a:off x="-1184997" y="4614245"/>
            <a:ext cx="1081087" cy="360000"/>
          </a:xfrm>
          <a:prstGeom prst="round2DiagRect">
            <a:avLst/>
          </a:prstGeom>
          <a:solidFill>
            <a:srgbClr val="FF660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强调色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对角圆角矩形 6"/>
          <p:cNvSpPr/>
          <p:nvPr userDrawn="1"/>
        </p:nvSpPr>
        <p:spPr>
          <a:xfrm>
            <a:off x="-1184997" y="5174015"/>
            <a:ext cx="1081087" cy="360000"/>
          </a:xfrm>
          <a:prstGeom prst="round2DiagRect">
            <a:avLst/>
          </a:prstGeom>
          <a:solidFill>
            <a:srgbClr val="FF9966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强调色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对角圆角矩形 7"/>
          <p:cNvSpPr/>
          <p:nvPr userDrawn="1"/>
        </p:nvSpPr>
        <p:spPr>
          <a:xfrm>
            <a:off x="-1184997" y="136085"/>
            <a:ext cx="1081087" cy="360000"/>
          </a:xfrm>
          <a:prstGeom prst="round2Diag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文字强调</a:t>
            </a:r>
          </a:p>
        </p:txBody>
      </p:sp>
      <p:sp>
        <p:nvSpPr>
          <p:cNvPr id="20" name="对角圆角矩形 7"/>
          <p:cNvSpPr/>
          <p:nvPr userDrawn="1"/>
        </p:nvSpPr>
        <p:spPr>
          <a:xfrm>
            <a:off x="-1184997" y="5733785"/>
            <a:ext cx="1081087" cy="360000"/>
          </a:xfrm>
          <a:prstGeom prst="round2Diag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区分色</a:t>
            </a:r>
          </a:p>
        </p:txBody>
      </p:sp>
      <p:sp>
        <p:nvSpPr>
          <p:cNvPr id="21" name="对角圆角矩形 7"/>
          <p:cNvSpPr/>
          <p:nvPr userDrawn="1"/>
        </p:nvSpPr>
        <p:spPr>
          <a:xfrm>
            <a:off x="-1184997" y="6293551"/>
            <a:ext cx="1081087" cy="360000"/>
          </a:xfrm>
          <a:prstGeom prst="round2DiagRect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区分色</a:t>
            </a:r>
          </a:p>
        </p:txBody>
      </p:sp>
      <p:sp>
        <p:nvSpPr>
          <p:cNvPr id="22" name="对角圆角矩形 5"/>
          <p:cNvSpPr/>
          <p:nvPr userDrawn="1"/>
        </p:nvSpPr>
        <p:spPr>
          <a:xfrm>
            <a:off x="-1184997" y="2375165"/>
            <a:ext cx="1081087" cy="360000"/>
          </a:xfrm>
          <a:prstGeom prst="round2DiagRect">
            <a:avLst/>
          </a:prstGeom>
          <a:solidFill>
            <a:srgbClr val="009DA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对角圆角矩形 6"/>
          <p:cNvSpPr/>
          <p:nvPr userDrawn="1"/>
        </p:nvSpPr>
        <p:spPr>
          <a:xfrm>
            <a:off x="-1184997" y="1815395"/>
            <a:ext cx="1081087" cy="360000"/>
          </a:xfrm>
          <a:prstGeom prst="round2DiagRect">
            <a:avLst/>
          </a:prstGeom>
          <a:solidFill>
            <a:srgbClr val="2D7D7F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对角圆角矩形 7"/>
          <p:cNvSpPr/>
          <p:nvPr userDrawn="1"/>
        </p:nvSpPr>
        <p:spPr>
          <a:xfrm>
            <a:off x="-1184997" y="3494705"/>
            <a:ext cx="1081087" cy="360000"/>
          </a:xfrm>
          <a:prstGeom prst="round2DiagRect">
            <a:avLst/>
          </a:prstGeom>
          <a:solidFill>
            <a:srgbClr val="A7DEDF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对角圆角矩形 7"/>
          <p:cNvSpPr/>
          <p:nvPr userDrawn="1"/>
        </p:nvSpPr>
        <p:spPr>
          <a:xfrm>
            <a:off x="-1184997" y="2934935"/>
            <a:ext cx="1081087" cy="360000"/>
          </a:xfrm>
          <a:prstGeom prst="round2DiagRect">
            <a:avLst/>
          </a:prstGeom>
          <a:solidFill>
            <a:srgbClr val="43BBBE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对角圆角矩形 7"/>
          <p:cNvSpPr/>
          <p:nvPr userDrawn="1"/>
        </p:nvSpPr>
        <p:spPr>
          <a:xfrm>
            <a:off x="-1184997" y="4054475"/>
            <a:ext cx="1081087" cy="360000"/>
          </a:xfrm>
          <a:prstGeom prst="round2DiagRect">
            <a:avLst/>
          </a:prstGeom>
          <a:solidFill>
            <a:srgbClr val="D9F1F2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对角圆角矩形 7"/>
          <p:cNvSpPr/>
          <p:nvPr userDrawn="1"/>
        </p:nvSpPr>
        <p:spPr>
          <a:xfrm>
            <a:off x="-1184997" y="695855"/>
            <a:ext cx="1081087" cy="360000"/>
          </a:xfrm>
          <a:prstGeom prst="round2DiagRect">
            <a:avLst/>
          </a:prstGeom>
          <a:solidFill>
            <a:srgbClr val="074353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基本文字</a:t>
            </a:r>
          </a:p>
        </p:txBody>
      </p:sp>
      <p:sp>
        <p:nvSpPr>
          <p:cNvPr id="28" name="对角圆角矩形 7"/>
          <p:cNvSpPr/>
          <p:nvPr userDrawn="1"/>
        </p:nvSpPr>
        <p:spPr>
          <a:xfrm>
            <a:off x="-1184997" y="1255625"/>
            <a:ext cx="1081087" cy="360000"/>
          </a:xfrm>
          <a:prstGeom prst="round2DiagRect">
            <a:avLst/>
          </a:prstGeom>
          <a:solidFill>
            <a:srgbClr val="595959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基本文字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21660" y="0"/>
            <a:ext cx="11348680" cy="839893"/>
            <a:chOff x="511059" y="0"/>
            <a:chExt cx="11007321" cy="81463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76541" y="0"/>
              <a:ext cx="2141839" cy="769256"/>
            </a:xfrm>
            <a:prstGeom prst="rect">
              <a:avLst/>
            </a:prstGeom>
            <a:solidFill>
              <a:srgbClr val="00AAA6"/>
            </a:solidFill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1689" y="251412"/>
              <a:ext cx="1688108" cy="266431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511059" y="696513"/>
              <a:ext cx="9435581" cy="118117"/>
              <a:chOff x="511059" y="687369"/>
              <a:chExt cx="9435581" cy="118117"/>
            </a:xfrm>
          </p:grpSpPr>
          <p:cxnSp>
            <p:nvCxnSpPr>
              <p:cNvPr id="11" name="直线连接符 17"/>
              <p:cNvCxnSpPr/>
              <p:nvPr/>
            </p:nvCxnSpPr>
            <p:spPr>
              <a:xfrm>
                <a:off x="582179" y="752222"/>
                <a:ext cx="9364461" cy="0"/>
              </a:xfrm>
              <a:prstGeom prst="line">
                <a:avLst/>
              </a:prstGeom>
              <a:ln w="12700">
                <a:solidFill>
                  <a:srgbClr val="049D9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椭圆 11"/>
              <p:cNvSpPr/>
              <p:nvPr/>
            </p:nvSpPr>
            <p:spPr>
              <a:xfrm>
                <a:off x="511059" y="687369"/>
                <a:ext cx="118117" cy="118117"/>
              </a:xfrm>
              <a:prstGeom prst="ellipse">
                <a:avLst/>
              </a:prstGeom>
              <a:solidFill>
                <a:srgbClr val="00AA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3" name="对角圆角矩形 5"/>
          <p:cNvSpPr/>
          <p:nvPr userDrawn="1"/>
        </p:nvSpPr>
        <p:spPr>
          <a:xfrm>
            <a:off x="-1184997" y="4614245"/>
            <a:ext cx="1081087" cy="360000"/>
          </a:xfrm>
          <a:prstGeom prst="round2DiagRect">
            <a:avLst/>
          </a:prstGeom>
          <a:solidFill>
            <a:srgbClr val="FF660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强调色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对角圆角矩形 6"/>
          <p:cNvSpPr/>
          <p:nvPr userDrawn="1"/>
        </p:nvSpPr>
        <p:spPr>
          <a:xfrm>
            <a:off x="-1184997" y="5174015"/>
            <a:ext cx="1081087" cy="360000"/>
          </a:xfrm>
          <a:prstGeom prst="round2DiagRect">
            <a:avLst/>
          </a:prstGeom>
          <a:solidFill>
            <a:srgbClr val="FF9966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强调色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对角圆角矩形 7"/>
          <p:cNvSpPr/>
          <p:nvPr userDrawn="1"/>
        </p:nvSpPr>
        <p:spPr>
          <a:xfrm>
            <a:off x="-1184997" y="136085"/>
            <a:ext cx="1081087" cy="360000"/>
          </a:xfrm>
          <a:prstGeom prst="round2Diag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文字强调</a:t>
            </a:r>
          </a:p>
        </p:txBody>
      </p:sp>
      <p:sp>
        <p:nvSpPr>
          <p:cNvPr id="16" name="对角圆角矩形 7"/>
          <p:cNvSpPr/>
          <p:nvPr userDrawn="1"/>
        </p:nvSpPr>
        <p:spPr>
          <a:xfrm>
            <a:off x="-1184997" y="5733785"/>
            <a:ext cx="1081087" cy="360000"/>
          </a:xfrm>
          <a:prstGeom prst="round2Diag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区分色</a:t>
            </a:r>
          </a:p>
        </p:txBody>
      </p:sp>
      <p:sp>
        <p:nvSpPr>
          <p:cNvPr id="17" name="对角圆角矩形 7"/>
          <p:cNvSpPr/>
          <p:nvPr userDrawn="1"/>
        </p:nvSpPr>
        <p:spPr>
          <a:xfrm>
            <a:off x="-1184997" y="6293551"/>
            <a:ext cx="1081087" cy="360000"/>
          </a:xfrm>
          <a:prstGeom prst="round2DiagRect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区分色</a:t>
            </a:r>
          </a:p>
        </p:txBody>
      </p:sp>
      <p:sp>
        <p:nvSpPr>
          <p:cNvPr id="18" name="对角圆角矩形 5"/>
          <p:cNvSpPr/>
          <p:nvPr userDrawn="1"/>
        </p:nvSpPr>
        <p:spPr>
          <a:xfrm>
            <a:off x="-1184997" y="2375165"/>
            <a:ext cx="1081087" cy="360000"/>
          </a:xfrm>
          <a:prstGeom prst="round2DiagRect">
            <a:avLst/>
          </a:prstGeom>
          <a:solidFill>
            <a:srgbClr val="009DA0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对角圆角矩形 6"/>
          <p:cNvSpPr/>
          <p:nvPr userDrawn="1"/>
        </p:nvSpPr>
        <p:spPr>
          <a:xfrm>
            <a:off x="-1184997" y="1815395"/>
            <a:ext cx="1081087" cy="360000"/>
          </a:xfrm>
          <a:prstGeom prst="round2DiagRect">
            <a:avLst/>
          </a:prstGeom>
          <a:solidFill>
            <a:srgbClr val="2D7D7F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对角圆角矩形 7"/>
          <p:cNvSpPr/>
          <p:nvPr userDrawn="1"/>
        </p:nvSpPr>
        <p:spPr>
          <a:xfrm>
            <a:off x="-1184997" y="3494705"/>
            <a:ext cx="1081087" cy="360000"/>
          </a:xfrm>
          <a:prstGeom prst="round2DiagRect">
            <a:avLst/>
          </a:prstGeom>
          <a:solidFill>
            <a:srgbClr val="A7DEDF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对角圆角矩形 7"/>
          <p:cNvSpPr/>
          <p:nvPr userDrawn="1"/>
        </p:nvSpPr>
        <p:spPr>
          <a:xfrm>
            <a:off x="-1184997" y="2934935"/>
            <a:ext cx="1081087" cy="360000"/>
          </a:xfrm>
          <a:prstGeom prst="round2DiagRect">
            <a:avLst/>
          </a:prstGeom>
          <a:solidFill>
            <a:srgbClr val="43BBBE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对角圆角矩形 7"/>
          <p:cNvSpPr/>
          <p:nvPr userDrawn="1"/>
        </p:nvSpPr>
        <p:spPr>
          <a:xfrm>
            <a:off x="-1184997" y="4054475"/>
            <a:ext cx="1081087" cy="360000"/>
          </a:xfrm>
          <a:prstGeom prst="round2DiagRect">
            <a:avLst/>
          </a:prstGeom>
          <a:solidFill>
            <a:srgbClr val="D9F1F2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基本色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对角圆角矩形 7"/>
          <p:cNvSpPr/>
          <p:nvPr userDrawn="1"/>
        </p:nvSpPr>
        <p:spPr>
          <a:xfrm>
            <a:off x="-1184997" y="695855"/>
            <a:ext cx="1081087" cy="360000"/>
          </a:xfrm>
          <a:prstGeom prst="round2DiagRect">
            <a:avLst/>
          </a:prstGeom>
          <a:solidFill>
            <a:srgbClr val="074353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基本文字</a:t>
            </a:r>
          </a:p>
        </p:txBody>
      </p:sp>
      <p:sp>
        <p:nvSpPr>
          <p:cNvPr id="24" name="对角圆角矩形 7"/>
          <p:cNvSpPr/>
          <p:nvPr userDrawn="1"/>
        </p:nvSpPr>
        <p:spPr>
          <a:xfrm>
            <a:off x="-1184997" y="1255625"/>
            <a:ext cx="1081087" cy="360000"/>
          </a:xfrm>
          <a:prstGeom prst="round2DiagRect">
            <a:avLst/>
          </a:prstGeom>
          <a:solidFill>
            <a:srgbClr val="595959"/>
          </a:solidFill>
          <a:ln w="25400" cap="flat" cmpd="sng" algn="ctr">
            <a:noFill/>
            <a:prstDash val="solid"/>
          </a:ln>
          <a:effectLst/>
        </p:spPr>
        <p:txBody>
          <a:bodyPr lIns="73936" tIns="36968" rIns="73936" bIns="3696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基本文字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4207448" y="2603218"/>
            <a:ext cx="3777104" cy="192873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735" b="1" i="0" u="none" strike="noStrike" kern="1200" cap="none" spc="267" normalizeH="0" baseline="0" noProof="0" dirty="0">
                <a:ln>
                  <a:noFill/>
                </a:ln>
                <a:solidFill>
                  <a:srgbClr val="00AAA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谢 谢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77834" y="1756240"/>
            <a:ext cx="2836335" cy="449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101" y="6572252"/>
            <a:ext cx="1401233" cy="207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1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6540501"/>
            <a:ext cx="575733" cy="25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灯片编号占位符 5"/>
          <p:cNvSpPr txBox="1"/>
          <p:nvPr userDrawn="1"/>
        </p:nvSpPr>
        <p:spPr>
          <a:xfrm>
            <a:off x="11568381" y="6474885"/>
            <a:ext cx="6236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9pPr>
          </a:lstStyle>
          <a:p>
            <a:pPr marL="0" marR="0" lvl="0" indent="0" algn="l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315F06-BDF2-4B91-851D-F83E00EC6354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 userDrawn="1"/>
        </p:nvSpPr>
        <p:spPr bwMode="auto">
          <a:xfrm>
            <a:off x="11280360" y="6405033"/>
            <a:ext cx="314510" cy="42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9pPr>
          </a:lstStyle>
          <a:p>
            <a:pPr marL="0" marR="0" lvl="0" indent="0" algn="l" defTabSz="1219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13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endParaRPr kumimoji="0" lang="zh-CN" altLang="en-US" sz="2135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274330" y="52949"/>
            <a:ext cx="8317844" cy="408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40845" y="121259"/>
            <a:ext cx="11739344" cy="408519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6096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600" b="1" i="0" u="none" strike="noStrike" cap="none" spc="0" baseline="0" dirty="0">
                <a:ln>
                  <a:noFill/>
                </a:ln>
                <a:solidFill>
                  <a:schemeClr val="accent6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39298" y="6514988"/>
            <a:ext cx="1112143" cy="300794"/>
          </a:xfrm>
          <a:prstGeom prst="rect">
            <a:avLst/>
          </a:prstGeom>
        </p:spPr>
      </p:pic>
      <p:sp>
        <p:nvSpPr>
          <p:cNvPr id="2" name="灯片编号占位符 1"/>
          <p:cNvSpPr txBox="1"/>
          <p:nvPr userDrawn="1"/>
        </p:nvSpPr>
        <p:spPr>
          <a:xfrm>
            <a:off x="9338881" y="6389159"/>
            <a:ext cx="2743200" cy="36618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思源黑体 CN Normal" panose="020B0500000000000000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Franklin Gothic Book" panose="020B0503020102020204" pitchFamily="34" charset="0"/>
                <a:ea typeface="思源黑体 CN Normal" panose="020B0500000000000000" charset="-122"/>
                <a:cs typeface="思源黑体 CN Normal" panose="020B0500000000000000" charset="-122"/>
              </a:defRPr>
            </a:lvl9pPr>
          </a:lstStyle>
          <a:p>
            <a:fld id="{88CACC65-18D2-4D83-8A67-36CFA4D0684B}" type="slidenum">
              <a:rPr lang="zh-CN" altLang="en-US" sz="1600" smtClean="0">
                <a:solidFill>
                  <a:schemeClr val="tx1"/>
                </a:solidFill>
                <a:cs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tx1"/>
              </a:solidFill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54" y="6398684"/>
            <a:ext cx="1130358" cy="41912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360665"/>
            <a:ext cx="12209777" cy="495160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sz="28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 flipH="1">
            <a:off x="-11430" y="-10160"/>
            <a:ext cx="2768600" cy="892175"/>
            <a:chOff x="0" y="-16"/>
            <a:chExt cx="4360" cy="1252"/>
          </a:xfrm>
        </p:grpSpPr>
        <p:sp>
          <p:nvSpPr>
            <p:cNvPr id="3" name="矩形 2"/>
            <p:cNvSpPr/>
            <p:nvPr>
              <p:custDataLst>
                <p:tags r:id="rId3"/>
              </p:custDataLst>
            </p:nvPr>
          </p:nvSpPr>
          <p:spPr>
            <a:xfrm>
              <a:off x="0" y="-16"/>
              <a:ext cx="4361" cy="800"/>
            </a:xfrm>
            <a:prstGeom prst="rect">
              <a:avLst/>
            </a:prstGeom>
            <a:gradFill>
              <a:gsLst>
                <a:gs pos="0">
                  <a:srgbClr val="FFFFFF">
                    <a:alpha val="28000"/>
                  </a:srgbClr>
                </a:gs>
                <a:gs pos="100000">
                  <a:srgbClr val="BBBDEA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0" y="754"/>
              <a:ext cx="4361" cy="483"/>
            </a:xfrm>
            <a:prstGeom prst="rect">
              <a:avLst/>
            </a:prstGeom>
            <a:gradFill>
              <a:gsLst>
                <a:gs pos="0">
                  <a:srgbClr val="FFFFFF">
                    <a:alpha val="14000"/>
                  </a:srgbClr>
                </a:gs>
                <a:gs pos="100000">
                  <a:srgbClr val="BBBDEA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9421495" y="6257290"/>
            <a:ext cx="2768600" cy="623570"/>
            <a:chOff x="0" y="-16"/>
            <a:chExt cx="4360" cy="1252"/>
          </a:xfrm>
        </p:grpSpPr>
        <p:sp>
          <p:nvSpPr>
            <p:cNvPr id="20" name="矩形 19"/>
            <p:cNvSpPr/>
            <p:nvPr>
              <p:custDataLst>
                <p:tags r:id="rId1"/>
              </p:custDataLst>
            </p:nvPr>
          </p:nvSpPr>
          <p:spPr>
            <a:xfrm>
              <a:off x="0" y="-16"/>
              <a:ext cx="4361" cy="800"/>
            </a:xfrm>
            <a:prstGeom prst="rect">
              <a:avLst/>
            </a:prstGeom>
            <a:gradFill>
              <a:gsLst>
                <a:gs pos="0">
                  <a:srgbClr val="FFFFFF">
                    <a:alpha val="28000"/>
                  </a:srgbClr>
                </a:gs>
                <a:gs pos="100000">
                  <a:srgbClr val="BBBDEA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2"/>
              </p:custDataLst>
            </p:nvPr>
          </p:nvSpPr>
          <p:spPr>
            <a:xfrm>
              <a:off x="0" y="754"/>
              <a:ext cx="4361" cy="483"/>
            </a:xfrm>
            <a:prstGeom prst="rect">
              <a:avLst/>
            </a:prstGeom>
            <a:gradFill>
              <a:gsLst>
                <a:gs pos="0">
                  <a:srgbClr val="FFFFFF">
                    <a:alpha val="28000"/>
                  </a:srgbClr>
                </a:gs>
                <a:gs pos="100000">
                  <a:srgbClr val="BBBDEA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7030" y="258445"/>
            <a:ext cx="10515600" cy="520700"/>
          </a:xfrm>
        </p:spPr>
        <p:txBody>
          <a:bodyPr/>
          <a:lstStyle>
            <a:lvl1pPr algn="l">
              <a:defRPr sz="2400" u="none" strike="noStrike" kern="1200" cap="none" spc="0" normalizeH="0">
                <a:solidFill>
                  <a:srgbClr val="2E3192"/>
                </a:solidFill>
                <a:uFillTx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4"/>
          </p:nvPr>
        </p:nvSpPr>
        <p:spPr>
          <a:xfrm>
            <a:off x="9052560" y="62318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" Type="http://schemas.openxmlformats.org/officeDocument/2006/relationships/tags" Target="../tags/tag7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microsoft.com/office/2018/10/relationships/comments" Target="../comments/modernComment_3AB_8E469FB9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49.xml"/><Relationship Id="rId21" Type="http://schemas.openxmlformats.org/officeDocument/2006/relationships/tags" Target="../tags/tag44.xml"/><Relationship Id="rId42" Type="http://schemas.openxmlformats.org/officeDocument/2006/relationships/tags" Target="../tags/tag65.xml"/><Relationship Id="rId47" Type="http://schemas.openxmlformats.org/officeDocument/2006/relationships/tags" Target="../tags/tag70.xml"/><Relationship Id="rId63" Type="http://schemas.openxmlformats.org/officeDocument/2006/relationships/tags" Target="../tags/tag86.xml"/><Relationship Id="rId68" Type="http://schemas.openxmlformats.org/officeDocument/2006/relationships/tags" Target="../tags/tag91.xml"/><Relationship Id="rId84" Type="http://schemas.openxmlformats.org/officeDocument/2006/relationships/tags" Target="../tags/tag107.xml"/><Relationship Id="rId89" Type="http://schemas.openxmlformats.org/officeDocument/2006/relationships/tags" Target="../tags/tag112.xml"/><Relationship Id="rId16" Type="http://schemas.openxmlformats.org/officeDocument/2006/relationships/tags" Target="../tags/tag39.xml"/><Relationship Id="rId11" Type="http://schemas.openxmlformats.org/officeDocument/2006/relationships/tags" Target="../tags/tag34.xml"/><Relationship Id="rId32" Type="http://schemas.openxmlformats.org/officeDocument/2006/relationships/tags" Target="../tags/tag55.xml"/><Relationship Id="rId37" Type="http://schemas.openxmlformats.org/officeDocument/2006/relationships/tags" Target="../tags/tag60.xml"/><Relationship Id="rId53" Type="http://schemas.openxmlformats.org/officeDocument/2006/relationships/tags" Target="../tags/tag76.xml"/><Relationship Id="rId58" Type="http://schemas.openxmlformats.org/officeDocument/2006/relationships/tags" Target="../tags/tag81.xml"/><Relationship Id="rId74" Type="http://schemas.openxmlformats.org/officeDocument/2006/relationships/tags" Target="../tags/tag97.xml"/><Relationship Id="rId79" Type="http://schemas.openxmlformats.org/officeDocument/2006/relationships/tags" Target="../tags/tag102.xml"/><Relationship Id="rId5" Type="http://schemas.openxmlformats.org/officeDocument/2006/relationships/tags" Target="../tags/tag28.xml"/><Relationship Id="rId90" Type="http://schemas.openxmlformats.org/officeDocument/2006/relationships/tags" Target="../tags/tag113.xml"/><Relationship Id="rId95" Type="http://schemas.microsoft.com/office/2018/10/relationships/comments" Target="../comments/modernComment_306_0.xml"/><Relationship Id="rId22" Type="http://schemas.openxmlformats.org/officeDocument/2006/relationships/tags" Target="../tags/tag45.xml"/><Relationship Id="rId27" Type="http://schemas.openxmlformats.org/officeDocument/2006/relationships/tags" Target="../tags/tag50.xml"/><Relationship Id="rId43" Type="http://schemas.openxmlformats.org/officeDocument/2006/relationships/tags" Target="../tags/tag66.xml"/><Relationship Id="rId48" Type="http://schemas.openxmlformats.org/officeDocument/2006/relationships/tags" Target="../tags/tag71.xml"/><Relationship Id="rId64" Type="http://schemas.openxmlformats.org/officeDocument/2006/relationships/tags" Target="../tags/tag87.xml"/><Relationship Id="rId69" Type="http://schemas.openxmlformats.org/officeDocument/2006/relationships/tags" Target="../tags/tag92.xml"/><Relationship Id="rId8" Type="http://schemas.openxmlformats.org/officeDocument/2006/relationships/tags" Target="../tags/tag31.xml"/><Relationship Id="rId51" Type="http://schemas.openxmlformats.org/officeDocument/2006/relationships/tags" Target="../tags/tag74.xml"/><Relationship Id="rId72" Type="http://schemas.openxmlformats.org/officeDocument/2006/relationships/tags" Target="../tags/tag95.xml"/><Relationship Id="rId80" Type="http://schemas.openxmlformats.org/officeDocument/2006/relationships/tags" Target="../tags/tag103.xml"/><Relationship Id="rId85" Type="http://schemas.openxmlformats.org/officeDocument/2006/relationships/tags" Target="../tags/tag108.xml"/><Relationship Id="rId93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12" Type="http://schemas.openxmlformats.org/officeDocument/2006/relationships/tags" Target="../tags/tag35.xml"/><Relationship Id="rId17" Type="http://schemas.openxmlformats.org/officeDocument/2006/relationships/tags" Target="../tags/tag40.xml"/><Relationship Id="rId25" Type="http://schemas.openxmlformats.org/officeDocument/2006/relationships/tags" Target="../tags/tag48.xml"/><Relationship Id="rId33" Type="http://schemas.openxmlformats.org/officeDocument/2006/relationships/tags" Target="../tags/tag56.xml"/><Relationship Id="rId38" Type="http://schemas.openxmlformats.org/officeDocument/2006/relationships/tags" Target="../tags/tag61.xml"/><Relationship Id="rId46" Type="http://schemas.openxmlformats.org/officeDocument/2006/relationships/tags" Target="../tags/tag69.xml"/><Relationship Id="rId59" Type="http://schemas.openxmlformats.org/officeDocument/2006/relationships/tags" Target="../tags/tag82.xml"/><Relationship Id="rId67" Type="http://schemas.openxmlformats.org/officeDocument/2006/relationships/tags" Target="../tags/tag90.xml"/><Relationship Id="rId20" Type="http://schemas.openxmlformats.org/officeDocument/2006/relationships/tags" Target="../tags/tag43.xml"/><Relationship Id="rId41" Type="http://schemas.openxmlformats.org/officeDocument/2006/relationships/tags" Target="../tags/tag64.xml"/><Relationship Id="rId54" Type="http://schemas.openxmlformats.org/officeDocument/2006/relationships/tags" Target="../tags/tag77.xml"/><Relationship Id="rId62" Type="http://schemas.openxmlformats.org/officeDocument/2006/relationships/tags" Target="../tags/tag85.xml"/><Relationship Id="rId70" Type="http://schemas.openxmlformats.org/officeDocument/2006/relationships/tags" Target="../tags/tag93.xml"/><Relationship Id="rId75" Type="http://schemas.openxmlformats.org/officeDocument/2006/relationships/tags" Target="../tags/tag98.xml"/><Relationship Id="rId83" Type="http://schemas.openxmlformats.org/officeDocument/2006/relationships/tags" Target="../tags/tag106.xml"/><Relationship Id="rId88" Type="http://schemas.openxmlformats.org/officeDocument/2006/relationships/tags" Target="../tags/tag111.xml"/><Relationship Id="rId91" Type="http://schemas.openxmlformats.org/officeDocument/2006/relationships/tags" Target="../tags/tag114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5" Type="http://schemas.openxmlformats.org/officeDocument/2006/relationships/tags" Target="../tags/tag38.xml"/><Relationship Id="rId23" Type="http://schemas.openxmlformats.org/officeDocument/2006/relationships/tags" Target="../tags/tag46.xml"/><Relationship Id="rId28" Type="http://schemas.openxmlformats.org/officeDocument/2006/relationships/tags" Target="../tags/tag51.xml"/><Relationship Id="rId36" Type="http://schemas.openxmlformats.org/officeDocument/2006/relationships/tags" Target="../tags/tag59.xml"/><Relationship Id="rId49" Type="http://schemas.openxmlformats.org/officeDocument/2006/relationships/tags" Target="../tags/tag72.xml"/><Relationship Id="rId57" Type="http://schemas.openxmlformats.org/officeDocument/2006/relationships/tags" Target="../tags/tag80.xml"/><Relationship Id="rId10" Type="http://schemas.openxmlformats.org/officeDocument/2006/relationships/tags" Target="../tags/tag33.xml"/><Relationship Id="rId31" Type="http://schemas.openxmlformats.org/officeDocument/2006/relationships/tags" Target="../tags/tag54.xml"/><Relationship Id="rId44" Type="http://schemas.openxmlformats.org/officeDocument/2006/relationships/tags" Target="../tags/tag67.xml"/><Relationship Id="rId52" Type="http://schemas.openxmlformats.org/officeDocument/2006/relationships/tags" Target="../tags/tag75.xml"/><Relationship Id="rId60" Type="http://schemas.openxmlformats.org/officeDocument/2006/relationships/tags" Target="../tags/tag83.xml"/><Relationship Id="rId65" Type="http://schemas.openxmlformats.org/officeDocument/2006/relationships/tags" Target="../tags/tag88.xml"/><Relationship Id="rId73" Type="http://schemas.openxmlformats.org/officeDocument/2006/relationships/tags" Target="../tags/tag96.xml"/><Relationship Id="rId78" Type="http://schemas.openxmlformats.org/officeDocument/2006/relationships/tags" Target="../tags/tag101.xml"/><Relationship Id="rId81" Type="http://schemas.openxmlformats.org/officeDocument/2006/relationships/tags" Target="../tags/tag104.xml"/><Relationship Id="rId86" Type="http://schemas.openxmlformats.org/officeDocument/2006/relationships/tags" Target="../tags/tag109.xml"/><Relationship Id="rId94" Type="http://schemas.openxmlformats.org/officeDocument/2006/relationships/notesSlide" Target="../notesSlides/notesSlide2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3" Type="http://schemas.openxmlformats.org/officeDocument/2006/relationships/tags" Target="../tags/tag36.xml"/><Relationship Id="rId18" Type="http://schemas.openxmlformats.org/officeDocument/2006/relationships/tags" Target="../tags/tag41.xml"/><Relationship Id="rId39" Type="http://schemas.openxmlformats.org/officeDocument/2006/relationships/tags" Target="../tags/tag62.xml"/><Relationship Id="rId34" Type="http://schemas.openxmlformats.org/officeDocument/2006/relationships/tags" Target="../tags/tag57.xml"/><Relationship Id="rId50" Type="http://schemas.openxmlformats.org/officeDocument/2006/relationships/tags" Target="../tags/tag73.xml"/><Relationship Id="rId55" Type="http://schemas.openxmlformats.org/officeDocument/2006/relationships/tags" Target="../tags/tag78.xml"/><Relationship Id="rId76" Type="http://schemas.openxmlformats.org/officeDocument/2006/relationships/tags" Target="../tags/tag99.xml"/><Relationship Id="rId7" Type="http://schemas.openxmlformats.org/officeDocument/2006/relationships/tags" Target="../tags/tag30.xml"/><Relationship Id="rId71" Type="http://schemas.openxmlformats.org/officeDocument/2006/relationships/tags" Target="../tags/tag94.xml"/><Relationship Id="rId92" Type="http://schemas.openxmlformats.org/officeDocument/2006/relationships/tags" Target="../tags/tag115.xml"/><Relationship Id="rId2" Type="http://schemas.openxmlformats.org/officeDocument/2006/relationships/tags" Target="../tags/tag25.xml"/><Relationship Id="rId29" Type="http://schemas.openxmlformats.org/officeDocument/2006/relationships/tags" Target="../tags/tag52.xml"/><Relationship Id="rId24" Type="http://schemas.openxmlformats.org/officeDocument/2006/relationships/tags" Target="../tags/tag47.xml"/><Relationship Id="rId40" Type="http://schemas.openxmlformats.org/officeDocument/2006/relationships/tags" Target="../tags/tag63.xml"/><Relationship Id="rId45" Type="http://schemas.openxmlformats.org/officeDocument/2006/relationships/tags" Target="../tags/tag68.xml"/><Relationship Id="rId66" Type="http://schemas.openxmlformats.org/officeDocument/2006/relationships/tags" Target="../tags/tag89.xml"/><Relationship Id="rId87" Type="http://schemas.openxmlformats.org/officeDocument/2006/relationships/tags" Target="../tags/tag110.xml"/><Relationship Id="rId61" Type="http://schemas.openxmlformats.org/officeDocument/2006/relationships/tags" Target="../tags/tag84.xml"/><Relationship Id="rId82" Type="http://schemas.openxmlformats.org/officeDocument/2006/relationships/tags" Target="../tags/tag105.xml"/><Relationship Id="rId19" Type="http://schemas.openxmlformats.org/officeDocument/2006/relationships/tags" Target="../tags/tag42.xml"/><Relationship Id="rId14" Type="http://schemas.openxmlformats.org/officeDocument/2006/relationships/tags" Target="../tags/tag37.xml"/><Relationship Id="rId30" Type="http://schemas.openxmlformats.org/officeDocument/2006/relationships/tags" Target="../tags/tag53.xml"/><Relationship Id="rId35" Type="http://schemas.openxmlformats.org/officeDocument/2006/relationships/tags" Target="../tags/tag58.xml"/><Relationship Id="rId56" Type="http://schemas.openxmlformats.org/officeDocument/2006/relationships/tags" Target="../tags/tag79.xml"/><Relationship Id="rId77" Type="http://schemas.openxmlformats.org/officeDocument/2006/relationships/tags" Target="../tags/tag100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141.xml"/><Relationship Id="rId21" Type="http://schemas.openxmlformats.org/officeDocument/2006/relationships/tags" Target="../tags/tag136.xml"/><Relationship Id="rId42" Type="http://schemas.openxmlformats.org/officeDocument/2006/relationships/tags" Target="../tags/tag157.xml"/><Relationship Id="rId47" Type="http://schemas.openxmlformats.org/officeDocument/2006/relationships/tags" Target="../tags/tag162.xml"/><Relationship Id="rId63" Type="http://schemas.openxmlformats.org/officeDocument/2006/relationships/tags" Target="../tags/tag178.xml"/><Relationship Id="rId68" Type="http://schemas.openxmlformats.org/officeDocument/2006/relationships/tags" Target="../tags/tag183.xml"/><Relationship Id="rId84" Type="http://schemas.openxmlformats.org/officeDocument/2006/relationships/tags" Target="../tags/tag199.xml"/><Relationship Id="rId89" Type="http://schemas.openxmlformats.org/officeDocument/2006/relationships/tags" Target="../tags/tag204.xml"/><Relationship Id="rId16" Type="http://schemas.openxmlformats.org/officeDocument/2006/relationships/tags" Target="../tags/tag131.xml"/><Relationship Id="rId11" Type="http://schemas.openxmlformats.org/officeDocument/2006/relationships/tags" Target="../tags/tag126.xml"/><Relationship Id="rId32" Type="http://schemas.openxmlformats.org/officeDocument/2006/relationships/tags" Target="../tags/tag147.xml"/><Relationship Id="rId37" Type="http://schemas.openxmlformats.org/officeDocument/2006/relationships/tags" Target="../tags/tag152.xml"/><Relationship Id="rId53" Type="http://schemas.openxmlformats.org/officeDocument/2006/relationships/tags" Target="../tags/tag168.xml"/><Relationship Id="rId58" Type="http://schemas.openxmlformats.org/officeDocument/2006/relationships/tags" Target="../tags/tag173.xml"/><Relationship Id="rId74" Type="http://schemas.openxmlformats.org/officeDocument/2006/relationships/tags" Target="../tags/tag189.xml"/><Relationship Id="rId79" Type="http://schemas.openxmlformats.org/officeDocument/2006/relationships/tags" Target="../tags/tag194.xml"/><Relationship Id="rId5" Type="http://schemas.openxmlformats.org/officeDocument/2006/relationships/tags" Target="../tags/tag120.xml"/><Relationship Id="rId90" Type="http://schemas.openxmlformats.org/officeDocument/2006/relationships/tags" Target="../tags/tag205.xml"/><Relationship Id="rId95" Type="http://schemas.openxmlformats.org/officeDocument/2006/relationships/tags" Target="../tags/tag210.xml"/><Relationship Id="rId22" Type="http://schemas.openxmlformats.org/officeDocument/2006/relationships/tags" Target="../tags/tag137.xml"/><Relationship Id="rId27" Type="http://schemas.openxmlformats.org/officeDocument/2006/relationships/tags" Target="../tags/tag142.xml"/><Relationship Id="rId43" Type="http://schemas.openxmlformats.org/officeDocument/2006/relationships/tags" Target="../tags/tag158.xml"/><Relationship Id="rId48" Type="http://schemas.openxmlformats.org/officeDocument/2006/relationships/tags" Target="../tags/tag163.xml"/><Relationship Id="rId64" Type="http://schemas.openxmlformats.org/officeDocument/2006/relationships/tags" Target="../tags/tag179.xml"/><Relationship Id="rId69" Type="http://schemas.openxmlformats.org/officeDocument/2006/relationships/tags" Target="../tags/tag184.xml"/><Relationship Id="rId80" Type="http://schemas.openxmlformats.org/officeDocument/2006/relationships/tags" Target="../tags/tag195.xml"/><Relationship Id="rId85" Type="http://schemas.openxmlformats.org/officeDocument/2006/relationships/tags" Target="../tags/tag200.xml"/><Relationship Id="rId3" Type="http://schemas.openxmlformats.org/officeDocument/2006/relationships/tags" Target="../tags/tag118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5" Type="http://schemas.openxmlformats.org/officeDocument/2006/relationships/tags" Target="../tags/tag140.xml"/><Relationship Id="rId33" Type="http://schemas.openxmlformats.org/officeDocument/2006/relationships/tags" Target="../tags/tag148.xml"/><Relationship Id="rId38" Type="http://schemas.openxmlformats.org/officeDocument/2006/relationships/tags" Target="../tags/tag153.xml"/><Relationship Id="rId46" Type="http://schemas.openxmlformats.org/officeDocument/2006/relationships/tags" Target="../tags/tag161.xml"/><Relationship Id="rId59" Type="http://schemas.openxmlformats.org/officeDocument/2006/relationships/tags" Target="../tags/tag174.xml"/><Relationship Id="rId67" Type="http://schemas.openxmlformats.org/officeDocument/2006/relationships/tags" Target="../tags/tag182.xml"/><Relationship Id="rId20" Type="http://schemas.openxmlformats.org/officeDocument/2006/relationships/tags" Target="../tags/tag135.xml"/><Relationship Id="rId41" Type="http://schemas.openxmlformats.org/officeDocument/2006/relationships/tags" Target="../tags/tag156.xml"/><Relationship Id="rId54" Type="http://schemas.openxmlformats.org/officeDocument/2006/relationships/tags" Target="../tags/tag169.xml"/><Relationship Id="rId62" Type="http://schemas.openxmlformats.org/officeDocument/2006/relationships/tags" Target="../tags/tag177.xml"/><Relationship Id="rId70" Type="http://schemas.openxmlformats.org/officeDocument/2006/relationships/tags" Target="../tags/tag185.xml"/><Relationship Id="rId75" Type="http://schemas.openxmlformats.org/officeDocument/2006/relationships/tags" Target="../tags/tag190.xml"/><Relationship Id="rId83" Type="http://schemas.openxmlformats.org/officeDocument/2006/relationships/tags" Target="../tags/tag198.xml"/><Relationship Id="rId88" Type="http://schemas.openxmlformats.org/officeDocument/2006/relationships/tags" Target="../tags/tag203.xml"/><Relationship Id="rId91" Type="http://schemas.openxmlformats.org/officeDocument/2006/relationships/tags" Target="../tags/tag206.xml"/><Relationship Id="rId96" Type="http://schemas.openxmlformats.org/officeDocument/2006/relationships/tags" Target="../tags/tag211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5" Type="http://schemas.openxmlformats.org/officeDocument/2006/relationships/tags" Target="../tags/tag130.xml"/><Relationship Id="rId23" Type="http://schemas.openxmlformats.org/officeDocument/2006/relationships/tags" Target="../tags/tag138.xml"/><Relationship Id="rId28" Type="http://schemas.openxmlformats.org/officeDocument/2006/relationships/tags" Target="../tags/tag143.xml"/><Relationship Id="rId36" Type="http://schemas.openxmlformats.org/officeDocument/2006/relationships/tags" Target="../tags/tag151.xml"/><Relationship Id="rId49" Type="http://schemas.openxmlformats.org/officeDocument/2006/relationships/tags" Target="../tags/tag164.xml"/><Relationship Id="rId57" Type="http://schemas.openxmlformats.org/officeDocument/2006/relationships/tags" Target="../tags/tag172.xml"/><Relationship Id="rId10" Type="http://schemas.openxmlformats.org/officeDocument/2006/relationships/tags" Target="../tags/tag125.xml"/><Relationship Id="rId31" Type="http://schemas.openxmlformats.org/officeDocument/2006/relationships/tags" Target="../tags/tag146.xml"/><Relationship Id="rId44" Type="http://schemas.openxmlformats.org/officeDocument/2006/relationships/tags" Target="../tags/tag159.xml"/><Relationship Id="rId52" Type="http://schemas.openxmlformats.org/officeDocument/2006/relationships/tags" Target="../tags/tag167.xml"/><Relationship Id="rId60" Type="http://schemas.openxmlformats.org/officeDocument/2006/relationships/tags" Target="../tags/tag175.xml"/><Relationship Id="rId65" Type="http://schemas.openxmlformats.org/officeDocument/2006/relationships/tags" Target="../tags/tag180.xml"/><Relationship Id="rId73" Type="http://schemas.openxmlformats.org/officeDocument/2006/relationships/tags" Target="../tags/tag188.xml"/><Relationship Id="rId78" Type="http://schemas.openxmlformats.org/officeDocument/2006/relationships/tags" Target="../tags/tag193.xml"/><Relationship Id="rId81" Type="http://schemas.openxmlformats.org/officeDocument/2006/relationships/tags" Target="../tags/tag196.xml"/><Relationship Id="rId86" Type="http://schemas.openxmlformats.org/officeDocument/2006/relationships/tags" Target="../tags/tag201.xml"/><Relationship Id="rId94" Type="http://schemas.openxmlformats.org/officeDocument/2006/relationships/tags" Target="../tags/tag209.xml"/><Relationship Id="rId99" Type="http://schemas.openxmlformats.org/officeDocument/2006/relationships/notesSlide" Target="../notesSlides/notesSlide3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3" Type="http://schemas.openxmlformats.org/officeDocument/2006/relationships/tags" Target="../tags/tag128.xml"/><Relationship Id="rId18" Type="http://schemas.openxmlformats.org/officeDocument/2006/relationships/tags" Target="../tags/tag133.xml"/><Relationship Id="rId39" Type="http://schemas.openxmlformats.org/officeDocument/2006/relationships/tags" Target="../tags/tag154.xml"/><Relationship Id="rId34" Type="http://schemas.openxmlformats.org/officeDocument/2006/relationships/tags" Target="../tags/tag149.xml"/><Relationship Id="rId50" Type="http://schemas.openxmlformats.org/officeDocument/2006/relationships/tags" Target="../tags/tag165.xml"/><Relationship Id="rId55" Type="http://schemas.openxmlformats.org/officeDocument/2006/relationships/tags" Target="../tags/tag170.xml"/><Relationship Id="rId76" Type="http://schemas.openxmlformats.org/officeDocument/2006/relationships/tags" Target="../tags/tag191.xml"/><Relationship Id="rId97" Type="http://schemas.openxmlformats.org/officeDocument/2006/relationships/tags" Target="../tags/tag212.xml"/><Relationship Id="rId7" Type="http://schemas.openxmlformats.org/officeDocument/2006/relationships/tags" Target="../tags/tag122.xml"/><Relationship Id="rId71" Type="http://schemas.openxmlformats.org/officeDocument/2006/relationships/tags" Target="../tags/tag186.xml"/><Relationship Id="rId92" Type="http://schemas.openxmlformats.org/officeDocument/2006/relationships/tags" Target="../tags/tag207.xml"/><Relationship Id="rId2" Type="http://schemas.openxmlformats.org/officeDocument/2006/relationships/tags" Target="../tags/tag117.xml"/><Relationship Id="rId29" Type="http://schemas.openxmlformats.org/officeDocument/2006/relationships/tags" Target="../tags/tag144.xml"/><Relationship Id="rId24" Type="http://schemas.openxmlformats.org/officeDocument/2006/relationships/tags" Target="../tags/tag139.xml"/><Relationship Id="rId40" Type="http://schemas.openxmlformats.org/officeDocument/2006/relationships/tags" Target="../tags/tag155.xml"/><Relationship Id="rId45" Type="http://schemas.openxmlformats.org/officeDocument/2006/relationships/tags" Target="../tags/tag160.xml"/><Relationship Id="rId66" Type="http://schemas.openxmlformats.org/officeDocument/2006/relationships/tags" Target="../tags/tag181.xml"/><Relationship Id="rId87" Type="http://schemas.openxmlformats.org/officeDocument/2006/relationships/tags" Target="../tags/tag202.xml"/><Relationship Id="rId61" Type="http://schemas.openxmlformats.org/officeDocument/2006/relationships/tags" Target="../tags/tag176.xml"/><Relationship Id="rId82" Type="http://schemas.openxmlformats.org/officeDocument/2006/relationships/tags" Target="../tags/tag197.xml"/><Relationship Id="rId19" Type="http://schemas.openxmlformats.org/officeDocument/2006/relationships/tags" Target="../tags/tag134.xml"/><Relationship Id="rId14" Type="http://schemas.openxmlformats.org/officeDocument/2006/relationships/tags" Target="../tags/tag129.xml"/><Relationship Id="rId30" Type="http://schemas.openxmlformats.org/officeDocument/2006/relationships/tags" Target="../tags/tag145.xml"/><Relationship Id="rId35" Type="http://schemas.openxmlformats.org/officeDocument/2006/relationships/tags" Target="../tags/tag150.xml"/><Relationship Id="rId56" Type="http://schemas.openxmlformats.org/officeDocument/2006/relationships/tags" Target="../tags/tag171.xml"/><Relationship Id="rId77" Type="http://schemas.openxmlformats.org/officeDocument/2006/relationships/tags" Target="../tags/tag192.xml"/><Relationship Id="rId8" Type="http://schemas.openxmlformats.org/officeDocument/2006/relationships/tags" Target="../tags/tag123.xml"/><Relationship Id="rId51" Type="http://schemas.openxmlformats.org/officeDocument/2006/relationships/tags" Target="../tags/tag166.xml"/><Relationship Id="rId72" Type="http://schemas.openxmlformats.org/officeDocument/2006/relationships/tags" Target="../tags/tag187.xml"/><Relationship Id="rId93" Type="http://schemas.openxmlformats.org/officeDocument/2006/relationships/tags" Target="../tags/tag208.xml"/><Relationship Id="rId98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0803-061A-4B47-47EC-A91676E95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40B7E32-918B-7CA6-2186-98D320D6BC4C}"/>
              </a:ext>
            </a:extLst>
          </p:cNvPr>
          <p:cNvSpPr/>
          <p:nvPr/>
        </p:nvSpPr>
        <p:spPr>
          <a:xfrm>
            <a:off x="356235" y="3898814"/>
            <a:ext cx="2807335" cy="1875771"/>
          </a:xfrm>
          <a:prstGeom prst="rect">
            <a:avLst/>
          </a:prstGeom>
          <a:solidFill>
            <a:srgbClr val="D9F1F2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200" b="1" dirty="0">
              <a:solidFill>
                <a:srgbClr val="7030A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50DF1AB-E6D7-09ED-3469-D7A985B17702}"/>
              </a:ext>
            </a:extLst>
          </p:cNvPr>
          <p:cNvSpPr/>
          <p:nvPr/>
        </p:nvSpPr>
        <p:spPr>
          <a:xfrm>
            <a:off x="8709060" y="1222344"/>
            <a:ext cx="3088627" cy="5553951"/>
          </a:xfrm>
          <a:prstGeom prst="rect">
            <a:avLst/>
          </a:prstGeom>
          <a:solidFill>
            <a:srgbClr val="D9F1F2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E67C28A-99E0-D5E0-F674-43810D712460}"/>
              </a:ext>
            </a:extLst>
          </p:cNvPr>
          <p:cNvSpPr/>
          <p:nvPr/>
        </p:nvSpPr>
        <p:spPr>
          <a:xfrm>
            <a:off x="3660567" y="1222345"/>
            <a:ext cx="4710706" cy="5553952"/>
          </a:xfrm>
          <a:prstGeom prst="rect">
            <a:avLst/>
          </a:prstGeom>
          <a:solidFill>
            <a:srgbClr val="D9F1F2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EAB2AA03-9AFE-3063-7803-9ABE1DAC70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应收模块数据探源</a:t>
            </a:r>
            <a:r>
              <a:rPr lang="en-US" altLang="zh-CN" dirty="0"/>
              <a:t>-</a:t>
            </a:r>
            <a:r>
              <a:rPr lang="zh-CN" altLang="en-US" dirty="0"/>
              <a:t>二期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143A24A-48A2-4E8F-A7F8-0F4B3B9A5F91}"/>
              </a:ext>
            </a:extLst>
          </p:cNvPr>
          <p:cNvSpPr/>
          <p:nvPr/>
        </p:nvSpPr>
        <p:spPr>
          <a:xfrm>
            <a:off x="356235" y="5865058"/>
            <a:ext cx="2807335" cy="911237"/>
          </a:xfrm>
          <a:prstGeom prst="rect">
            <a:avLst/>
          </a:prstGeom>
          <a:solidFill>
            <a:srgbClr val="D9F1F2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b="1" dirty="0">
                <a:solidFill>
                  <a:srgbClr val="7030A0"/>
                </a:solidFill>
                <a:latin typeface="微软雅黑" charset="0"/>
                <a:ea typeface="微软雅黑" charset="0"/>
              </a:rPr>
              <a:t>主数据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03BF469-C2DF-F9B3-65FE-81769F48591B}"/>
              </a:ext>
            </a:extLst>
          </p:cNvPr>
          <p:cNvSpPr/>
          <p:nvPr/>
        </p:nvSpPr>
        <p:spPr>
          <a:xfrm>
            <a:off x="458361" y="6107442"/>
            <a:ext cx="2519680" cy="28257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MDG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BC0673E-D5FA-C206-EB39-BDBB9F4509D3}"/>
              </a:ext>
            </a:extLst>
          </p:cNvPr>
          <p:cNvSpPr/>
          <p:nvPr/>
        </p:nvSpPr>
        <p:spPr>
          <a:xfrm>
            <a:off x="458361" y="6410101"/>
            <a:ext cx="2519680" cy="30348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HiData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 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聚数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D95FC23-9789-665D-4C05-36936D00E9CF}"/>
              </a:ext>
            </a:extLst>
          </p:cNvPr>
          <p:cNvSpPr/>
          <p:nvPr/>
        </p:nvSpPr>
        <p:spPr>
          <a:xfrm>
            <a:off x="356235" y="885825"/>
            <a:ext cx="2807335" cy="24638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数据源系统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C986CD4-7FA6-6E67-24A7-E659974A9F5F}"/>
              </a:ext>
            </a:extLst>
          </p:cNvPr>
          <p:cNvSpPr/>
          <p:nvPr/>
        </p:nvSpPr>
        <p:spPr>
          <a:xfrm>
            <a:off x="3696335" y="885190"/>
            <a:ext cx="4653915" cy="24765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数据采集内容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F52ED385-C951-1734-0B76-731C3689A410}"/>
              </a:ext>
            </a:extLst>
          </p:cNvPr>
          <p:cNvSpPr/>
          <p:nvPr/>
        </p:nvSpPr>
        <p:spPr>
          <a:xfrm>
            <a:off x="3765550" y="1449704"/>
            <a:ext cx="4477385" cy="219745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往来账龄明细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客户账期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欠付费用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欠付返利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提前回款</a:t>
            </a: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7DC0856E-063D-3765-8DF8-7F79A9E2EE61}"/>
              </a:ext>
            </a:extLst>
          </p:cNvPr>
          <p:cNvSpPr/>
          <p:nvPr/>
        </p:nvSpPr>
        <p:spPr>
          <a:xfrm>
            <a:off x="8835072" y="1449705"/>
            <a:ext cx="2790825" cy="2188513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客户已清表</a:t>
            </a:r>
            <a:endParaRPr lang="en-US" altLang="zh-CN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客户未清表</a:t>
            </a:r>
            <a:endParaRPr lang="en-US" altLang="zh-CN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供应商已清表</a:t>
            </a:r>
            <a:endParaRPr lang="en-US" altLang="zh-CN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供应商未清表</a:t>
            </a:r>
            <a:endParaRPr lang="en-US" altLang="zh-CN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客户账期表</a:t>
            </a:r>
            <a:endParaRPr lang="en-US" altLang="zh-CN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…….</a:t>
            </a: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CAE5EDB5-D4AD-4A79-C9CA-F9526B015BCC}"/>
              </a:ext>
            </a:extLst>
          </p:cNvPr>
          <p:cNvSpPr/>
          <p:nvPr/>
        </p:nvSpPr>
        <p:spPr>
          <a:xfrm>
            <a:off x="356235" y="1218794"/>
            <a:ext cx="2807335" cy="2631565"/>
          </a:xfrm>
          <a:prstGeom prst="rect">
            <a:avLst/>
          </a:prstGeom>
          <a:solidFill>
            <a:srgbClr val="D9F1F2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b="1" dirty="0">
                <a:solidFill>
                  <a:srgbClr val="7030A0"/>
                </a:solidFill>
                <a:latin typeface="微软雅黑" charset="0"/>
                <a:ea typeface="微软雅黑" charset="0"/>
              </a:rPr>
              <a:t>ERP系统</a:t>
            </a: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21E0A107-898B-4D4B-55D2-4357BEA15096}"/>
              </a:ext>
            </a:extLst>
          </p:cNvPr>
          <p:cNvSpPr/>
          <p:nvPr/>
        </p:nvSpPr>
        <p:spPr>
          <a:xfrm>
            <a:off x="458361" y="1432511"/>
            <a:ext cx="2519680" cy="292100"/>
          </a:xfrm>
          <a:prstGeom prst="rect">
            <a:avLst/>
          </a:prstGeom>
          <a:solidFill>
            <a:srgbClr val="2D7D7F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lv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0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SAP600</a:t>
            </a:r>
          </a:p>
          <a:p>
            <a:pPr marL="0" lv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0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营销(电/冰/空/厨/中国区) </a:t>
            </a: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1D5422BA-0E03-FBBA-A486-E27BE7A80903}"/>
              </a:ext>
            </a:extLst>
          </p:cNvPr>
          <p:cNvSpPr/>
          <p:nvPr/>
        </p:nvSpPr>
        <p:spPr>
          <a:xfrm>
            <a:off x="458361" y="2205239"/>
            <a:ext cx="2519680" cy="292100"/>
          </a:xfrm>
          <a:prstGeom prst="rect">
            <a:avLst/>
          </a:prstGeom>
          <a:solidFill>
            <a:srgbClr val="2D7D7F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lv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0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SAP800</a:t>
            </a:r>
          </a:p>
          <a:p>
            <a:pPr marL="0" lv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000" dirty="0" err="1">
                <a:solidFill>
                  <a:schemeClr val="bg1"/>
                </a:solidFill>
                <a:latin typeface="微软雅黑" charset="0"/>
                <a:ea typeface="微软雅黑" charset="0"/>
              </a:rPr>
              <a:t>视像</a:t>
            </a:r>
            <a:r>
              <a:rPr lang="zh-CN" altLang="en-US" sz="10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科技</a:t>
            </a:r>
            <a:endParaRPr lang="en-US" altLang="zh-CN" sz="1000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3A121B7A-EC4D-44BB-B817-83D0D431405B}"/>
              </a:ext>
            </a:extLst>
          </p:cNvPr>
          <p:cNvSpPr/>
          <p:nvPr/>
        </p:nvSpPr>
        <p:spPr>
          <a:xfrm>
            <a:off x="458361" y="2591603"/>
            <a:ext cx="2519680" cy="29210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SAP900 </a:t>
            </a:r>
          </a:p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基地(电/冰/空)</a:t>
            </a: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E53953F-2F0C-929E-E83F-1FB28CE0AFC6}"/>
              </a:ext>
            </a:extLst>
          </p:cNvPr>
          <p:cNvSpPr/>
          <p:nvPr/>
        </p:nvSpPr>
        <p:spPr>
          <a:xfrm>
            <a:off x="458361" y="2977967"/>
            <a:ext cx="2519680" cy="292100"/>
          </a:xfrm>
          <a:prstGeom prst="rect">
            <a:avLst/>
          </a:prstGeom>
          <a:solidFill>
            <a:srgbClr val="2D7D7F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charset="0"/>
                <a:ea typeface="微软雅黑" charset="0"/>
                <a:sym typeface="+mn-ea"/>
              </a:rPr>
              <a:t>SAP610</a:t>
            </a:r>
          </a:p>
          <a:p>
            <a:pPr algn="ctr" defTabSz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charset="0"/>
                <a:ea typeface="微软雅黑" charset="0"/>
                <a:sym typeface="+mn-ea"/>
              </a:rPr>
              <a:t>TVS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771F0F-9157-1962-53FD-40BF1E864C4E}"/>
              </a:ext>
            </a:extLst>
          </p:cNvPr>
          <p:cNvSpPr/>
          <p:nvPr/>
        </p:nvSpPr>
        <p:spPr>
          <a:xfrm>
            <a:off x="8765540" y="885190"/>
            <a:ext cx="3032125" cy="24765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数据入湖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378055-BA0A-6333-B6FF-B76200A9312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58361" y="3986567"/>
            <a:ext cx="2519680" cy="29210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信汇平台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A15401C-2D3A-ABBB-0D7B-1C20AB92B3B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8361" y="4787268"/>
            <a:ext cx="2519680" cy="29210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政策系统 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645830B-64EB-6E14-24DB-52C98BF582D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765550" y="3986884"/>
            <a:ext cx="4477385" cy="29146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信汇明细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3B1A908-3180-1DAB-DAAE-59FFDBDF26B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765550" y="4965423"/>
            <a:ext cx="4477385" cy="29146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欠付返利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824A6E0-1388-664B-3D7B-8782CCC55A4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765550" y="6107441"/>
            <a:ext cx="4477385" cy="29273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客户主数据大表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65F3852-F88A-F10F-B565-5A5AF0E0FB0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835072" y="3986884"/>
            <a:ext cx="2790825" cy="29273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信汇明细表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44E1F93-4B47-1E31-AF07-0F310A61308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835072" y="4770746"/>
            <a:ext cx="2790825" cy="29273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已确认未兑现政策余额表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3FF056E-0BF7-5EC4-464F-B1E9C4D5F23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835072" y="5130803"/>
            <a:ext cx="2790825" cy="29273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日立经销商返利余额汇总表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F5B7E59-2220-2841-016B-A23EFE482AB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835072" y="6107441"/>
            <a:ext cx="2790825" cy="29273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客户主数据大表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DCB930-D1BF-C1C0-3731-6EAF8C63ED4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58361" y="1818875"/>
            <a:ext cx="2519680" cy="292100"/>
          </a:xfrm>
          <a:prstGeom prst="rect">
            <a:avLst/>
          </a:prstGeom>
          <a:solidFill>
            <a:srgbClr val="2D7D7F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lv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0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SAP700 </a:t>
            </a:r>
          </a:p>
          <a:p>
            <a:pPr marL="0" lv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0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日立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83B93A-2BC7-2814-0D4C-AA6E4B6EAB7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765550" y="6410101"/>
            <a:ext cx="4477385" cy="303439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维度映射规则表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6080C4-83CC-1661-3E8E-25F137F11C9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8835072" y="6410101"/>
            <a:ext cx="2790825" cy="303439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张维度映射表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88BCCC-6483-C8A8-7C9F-CB3BC2BD8C2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361" y="4401389"/>
            <a:ext cx="2519680" cy="29210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财务中台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问题资金系统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12DF99-4037-7F81-2621-B2DAC1EC515F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3765550" y="4352889"/>
            <a:ext cx="4477385" cy="386233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超期款金额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开票样机额度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0620E0-687A-D30B-7A64-E63545A553C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835072" y="4401389"/>
            <a:ext cx="2790825" cy="29273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超期款明细表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DD5CCB2-9EAF-60CA-21AF-4EE9F4A46E3C}"/>
              </a:ext>
            </a:extLst>
          </p:cNvPr>
          <p:cNvSpPr/>
          <p:nvPr/>
        </p:nvSpPr>
        <p:spPr>
          <a:xfrm>
            <a:off x="458361" y="3364330"/>
            <a:ext cx="2519680" cy="292100"/>
          </a:xfrm>
          <a:prstGeom prst="rect">
            <a:avLst/>
          </a:prstGeom>
          <a:solidFill>
            <a:srgbClr val="2D7D7F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charset="0"/>
                <a:ea typeface="微软雅黑" charset="0"/>
                <a:sym typeface="+mn-ea"/>
              </a:rPr>
              <a:t>SAP</a:t>
            </a:r>
            <a:r>
              <a:rPr lang="en-US" altLang="zh-CN" sz="1000" dirty="0">
                <a:solidFill>
                  <a:schemeClr val="bg1"/>
                </a:solidFill>
                <a:latin typeface="微软雅黑" charset="0"/>
                <a:ea typeface="微软雅黑" charset="0"/>
                <a:sym typeface="+mn-ea"/>
              </a:rPr>
              <a:t>8</a:t>
            </a:r>
            <a:r>
              <a:rPr lang="zh-CN" altLang="en-US" sz="1000" dirty="0">
                <a:solidFill>
                  <a:schemeClr val="bg1"/>
                </a:solidFill>
                <a:latin typeface="微软雅黑" charset="0"/>
                <a:ea typeface="微软雅黑" charset="0"/>
                <a:sym typeface="+mn-ea"/>
              </a:rPr>
              <a:t>10</a:t>
            </a:r>
          </a:p>
          <a:p>
            <a:pPr algn="ctr" defTabSz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chemeClr val="bg1"/>
                </a:solidFill>
                <a:latin typeface="微软雅黑" charset="0"/>
                <a:ea typeface="微软雅黑" charset="0"/>
                <a:sym typeface="+mn-ea"/>
              </a:rPr>
              <a:t>蒙特雷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B525AEA-A6DD-CBFB-8231-4837FB7B754B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58361" y="5170325"/>
            <a:ext cx="2519680" cy="29210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SMS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 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884CD81-9680-DBA3-D963-311D2A67516E}"/>
              </a:ext>
            </a:extLst>
          </p:cNvPr>
          <p:cNvCxnSpPr/>
          <p:nvPr/>
        </p:nvCxnSpPr>
        <p:spPr>
          <a:xfrm>
            <a:off x="3101340" y="2442845"/>
            <a:ext cx="656590" cy="3810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E3BAAF4-CB3D-0FD4-7958-765EB60E9B71}"/>
              </a:ext>
            </a:extLst>
          </p:cNvPr>
          <p:cNvCxnSpPr>
            <a:cxnSpLocks/>
            <a:stCxn id="3" idx="3"/>
            <a:endCxn id="28" idx="1"/>
          </p:cNvCxnSpPr>
          <p:nvPr/>
        </p:nvCxnSpPr>
        <p:spPr>
          <a:xfrm>
            <a:off x="2978041" y="4132617"/>
            <a:ext cx="787509" cy="0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31EE5E7-5610-43D7-011F-A63376F614C1}"/>
              </a:ext>
            </a:extLst>
          </p:cNvPr>
          <p:cNvCxnSpPr>
            <a:cxnSpLocks/>
            <a:stCxn id="21" idx="3"/>
            <a:endCxn id="6" idx="1"/>
          </p:cNvCxnSpPr>
          <p:nvPr/>
        </p:nvCxnSpPr>
        <p:spPr>
          <a:xfrm flipV="1">
            <a:off x="2978041" y="4546006"/>
            <a:ext cx="787509" cy="1433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618076A3-89BB-1657-61C0-BFE83D41003B}"/>
              </a:ext>
            </a:extLst>
          </p:cNvPr>
          <p:cNvCxnSpPr>
            <a:stCxn id="27" idx="3"/>
            <a:endCxn id="49" idx="1"/>
          </p:cNvCxnSpPr>
          <p:nvPr/>
        </p:nvCxnSpPr>
        <p:spPr>
          <a:xfrm>
            <a:off x="2978041" y="4933318"/>
            <a:ext cx="787509" cy="177838"/>
          </a:xfrm>
          <a:prstGeom prst="bentConnector3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083BE2D2-DDCB-9641-5C9B-08339D736417}"/>
              </a:ext>
            </a:extLst>
          </p:cNvPr>
          <p:cNvCxnSpPr>
            <a:stCxn id="32" idx="3"/>
            <a:endCxn id="49" idx="1"/>
          </p:cNvCxnSpPr>
          <p:nvPr/>
        </p:nvCxnSpPr>
        <p:spPr>
          <a:xfrm flipV="1">
            <a:off x="2978041" y="5111156"/>
            <a:ext cx="787509" cy="205219"/>
          </a:xfrm>
          <a:prstGeom prst="bentConnector3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EB4A1013-5329-C790-23DC-6F1F1397E20B}"/>
              </a:ext>
            </a:extLst>
          </p:cNvPr>
          <p:cNvCxnSpPr>
            <a:cxnSpLocks/>
            <a:stCxn id="55" idx="3"/>
            <a:endCxn id="50" idx="1"/>
          </p:cNvCxnSpPr>
          <p:nvPr/>
        </p:nvCxnSpPr>
        <p:spPr>
          <a:xfrm>
            <a:off x="2978041" y="6248730"/>
            <a:ext cx="787509" cy="5079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ED7EF6D-9A36-800F-BDA4-53B3E0A45A89}"/>
              </a:ext>
            </a:extLst>
          </p:cNvPr>
          <p:cNvCxnSpPr>
            <a:cxnSpLocks/>
            <a:stCxn id="57" idx="3"/>
            <a:endCxn id="20" idx="1"/>
          </p:cNvCxnSpPr>
          <p:nvPr/>
        </p:nvCxnSpPr>
        <p:spPr>
          <a:xfrm flipV="1">
            <a:off x="2978041" y="6561821"/>
            <a:ext cx="787509" cy="23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245FCCB-829B-E5FF-6CCC-0B98EF9DF440}"/>
              </a:ext>
            </a:extLst>
          </p:cNvPr>
          <p:cNvCxnSpPr>
            <a:cxnSpLocks/>
            <a:stCxn id="204" idx="3"/>
            <a:endCxn id="207" idx="1"/>
          </p:cNvCxnSpPr>
          <p:nvPr/>
        </p:nvCxnSpPr>
        <p:spPr>
          <a:xfrm flipV="1">
            <a:off x="8242935" y="2543962"/>
            <a:ext cx="592137" cy="4470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AB64FEFE-DB70-7E17-6D18-B7857E1A3723}"/>
              </a:ext>
            </a:extLst>
          </p:cNvPr>
          <p:cNvCxnSpPr>
            <a:cxnSpLocks/>
            <a:stCxn id="28" idx="3"/>
            <a:endCxn id="51" idx="1"/>
          </p:cNvCxnSpPr>
          <p:nvPr/>
        </p:nvCxnSpPr>
        <p:spPr>
          <a:xfrm>
            <a:off x="8242935" y="4132617"/>
            <a:ext cx="592137" cy="635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A7E86018-0E7E-5C92-56CC-23FF2EEDF00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8242935" y="4546006"/>
            <a:ext cx="592137" cy="1751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4052EA4A-79FB-6E64-2A1A-330138BB7ACF}"/>
              </a:ext>
            </a:extLst>
          </p:cNvPr>
          <p:cNvCxnSpPr>
            <a:cxnSpLocks/>
            <a:stCxn id="50" idx="3"/>
            <a:endCxn id="58" idx="1"/>
          </p:cNvCxnSpPr>
          <p:nvPr/>
        </p:nvCxnSpPr>
        <p:spPr>
          <a:xfrm>
            <a:off x="8242935" y="6253809"/>
            <a:ext cx="592137" cy="0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6A338535-6425-C674-30CE-E2E71E7F1356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8242935" y="6561821"/>
            <a:ext cx="592137" cy="0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0D00BA2C-DC69-A262-DEB0-EE9BA7610CCE}"/>
              </a:ext>
            </a:extLst>
          </p:cNvPr>
          <p:cNvCxnSpPr>
            <a:cxnSpLocks/>
            <a:stCxn id="49" idx="3"/>
            <a:endCxn id="54" idx="1"/>
          </p:cNvCxnSpPr>
          <p:nvPr/>
        </p:nvCxnSpPr>
        <p:spPr>
          <a:xfrm flipV="1">
            <a:off x="8242935" y="4917114"/>
            <a:ext cx="592137" cy="194042"/>
          </a:xfrm>
          <a:prstGeom prst="bentConnector3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86307113-57DC-2DB6-A082-39CD563B28DD}"/>
              </a:ext>
            </a:extLst>
          </p:cNvPr>
          <p:cNvCxnSpPr>
            <a:cxnSpLocks/>
            <a:stCxn id="49" idx="3"/>
            <a:endCxn id="56" idx="1"/>
          </p:cNvCxnSpPr>
          <p:nvPr/>
        </p:nvCxnSpPr>
        <p:spPr>
          <a:xfrm>
            <a:off x="8242935" y="5111156"/>
            <a:ext cx="592137" cy="166015"/>
          </a:xfrm>
          <a:prstGeom prst="bentConnector3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52BA599-98BF-0C09-7EF1-E627296EB18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58361" y="5498076"/>
            <a:ext cx="2519680" cy="292100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信数系统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6A3D8E-AA62-B351-D089-CDC8A5339BAA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765550" y="5499272"/>
            <a:ext cx="4477385" cy="29146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国际营销应收占用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日立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商显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18AC61E-B48B-DBED-D381-DD1CE752E18E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978041" y="5644126"/>
            <a:ext cx="787509" cy="879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CB6F3DE-3FBD-0ECF-BB92-BD38B1983E72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835072" y="5505204"/>
            <a:ext cx="2790825" cy="292735"/>
          </a:xfrm>
          <a:prstGeom prst="rect">
            <a:avLst/>
          </a:prstGeom>
          <a:solidFill>
            <a:srgbClr val="2D7D7F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国际营销应收占用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日立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商显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E97A968-CB14-0846-B224-9219DA31A9C4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>
            <a:off x="8242935" y="5645005"/>
            <a:ext cx="592137" cy="6567"/>
          </a:xfrm>
          <a:prstGeom prst="straightConnector1">
            <a:avLst/>
          </a:prstGeom>
          <a:ln w="12700" cap="flat" cmpd="sng" algn="ctr">
            <a:solidFill>
              <a:srgbClr val="0A2F8F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9930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矩形 331">
            <a:extLst>
              <a:ext uri="{FF2B5EF4-FFF2-40B4-BE49-F238E27FC236}">
                <a16:creationId xmlns:a16="http://schemas.microsoft.com/office/drawing/2014/main" id="{6B449685-C987-2240-C55C-DF275CBD5A5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97852" y="5982392"/>
            <a:ext cx="3709757" cy="649589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/>
          <p:cNvSpPr/>
          <p:nvPr>
            <p:custDataLst>
              <p:tags r:id="rId2"/>
            </p:custDataLst>
          </p:nvPr>
        </p:nvSpPr>
        <p:spPr>
          <a:xfrm>
            <a:off x="2012440" y="1301115"/>
            <a:ext cx="1999817" cy="4512125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/>
          <p:cNvSpPr/>
          <p:nvPr>
            <p:custDataLst>
              <p:tags r:id="rId3"/>
            </p:custDataLst>
          </p:nvPr>
        </p:nvSpPr>
        <p:spPr>
          <a:xfrm>
            <a:off x="4168393" y="1321332"/>
            <a:ext cx="4107377" cy="4491907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0215414" y="1321332"/>
            <a:ext cx="1540985" cy="3214413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618068" y="258234"/>
            <a:ext cx="4793826" cy="459877"/>
          </a:xfrm>
        </p:spPr>
        <p:txBody>
          <a:bodyPr/>
          <a:lstStyle/>
          <a:p>
            <a:r>
              <a:rPr lang="zh-CN" altLang="en-US" dirty="0"/>
              <a:t>应收模块业务及数据流</a:t>
            </a:r>
            <a:r>
              <a:rPr lang="en-US" altLang="zh-CN" dirty="0"/>
              <a:t>-</a:t>
            </a:r>
            <a:r>
              <a:rPr lang="zh-CN" altLang="en-US" dirty="0"/>
              <a:t>二期</a:t>
            </a:r>
          </a:p>
        </p:txBody>
      </p:sp>
      <p:sp>
        <p:nvSpPr>
          <p:cNvPr id="913" name="文本框 912"/>
          <p:cNvSpPr txBox="1"/>
          <p:nvPr>
            <p:custDataLst>
              <p:tags r:id="rId5"/>
            </p:custDataLst>
          </p:nvPr>
        </p:nvSpPr>
        <p:spPr>
          <a:xfrm>
            <a:off x="11320753" y="10734180"/>
            <a:ext cx="678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</a:p>
        </p:txBody>
      </p:sp>
      <p:sp>
        <p:nvSpPr>
          <p:cNvPr id="277" name="矩形 276"/>
          <p:cNvSpPr/>
          <p:nvPr>
            <p:custDataLst>
              <p:tags r:id="rId6"/>
            </p:custDataLst>
          </p:nvPr>
        </p:nvSpPr>
        <p:spPr>
          <a:xfrm>
            <a:off x="8628827" y="1321333"/>
            <a:ext cx="1487503" cy="4491907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9" name="矩形 278"/>
          <p:cNvSpPr/>
          <p:nvPr>
            <p:custDataLst>
              <p:tags r:id="rId7"/>
            </p:custDataLst>
          </p:nvPr>
        </p:nvSpPr>
        <p:spPr>
          <a:xfrm>
            <a:off x="332740" y="1301115"/>
            <a:ext cx="1506892" cy="5330867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0" name="矩形 279"/>
          <p:cNvSpPr/>
          <p:nvPr>
            <p:custDataLst>
              <p:tags r:id="rId8"/>
            </p:custDataLst>
          </p:nvPr>
        </p:nvSpPr>
        <p:spPr>
          <a:xfrm>
            <a:off x="2012394" y="938596"/>
            <a:ext cx="1999883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数据湖仓</a:t>
            </a:r>
          </a:p>
        </p:txBody>
      </p:sp>
      <p:sp>
        <p:nvSpPr>
          <p:cNvPr id="281" name="文本框 280"/>
          <p:cNvSpPr txBox="1"/>
          <p:nvPr>
            <p:custDataLst>
              <p:tags r:id="rId9"/>
            </p:custDataLst>
          </p:nvPr>
        </p:nvSpPr>
        <p:spPr>
          <a:xfrm>
            <a:off x="631957" y="1107433"/>
            <a:ext cx="933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ODS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63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张）</a:t>
            </a:r>
          </a:p>
        </p:txBody>
      </p:sp>
      <p:sp>
        <p:nvSpPr>
          <p:cNvPr id="283" name="文本框 282"/>
          <p:cNvSpPr txBox="1"/>
          <p:nvPr>
            <p:custDataLst>
              <p:tags r:id="rId10"/>
            </p:custDataLst>
          </p:nvPr>
        </p:nvSpPr>
        <p:spPr>
          <a:xfrm>
            <a:off x="2710228" y="1101392"/>
            <a:ext cx="9163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DWD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张）</a:t>
            </a:r>
          </a:p>
        </p:txBody>
      </p:sp>
      <p:sp>
        <p:nvSpPr>
          <p:cNvPr id="288" name="文本框 287"/>
          <p:cNvSpPr txBox="1"/>
          <p:nvPr>
            <p:custDataLst>
              <p:tags r:id="rId11"/>
            </p:custDataLst>
          </p:nvPr>
        </p:nvSpPr>
        <p:spPr>
          <a:xfrm>
            <a:off x="5440044" y="1096636"/>
            <a:ext cx="21938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DWM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张数据集，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张前台表）</a:t>
            </a:r>
          </a:p>
        </p:txBody>
      </p:sp>
      <p:sp>
        <p:nvSpPr>
          <p:cNvPr id="290" name="文本框 289"/>
          <p:cNvSpPr txBox="1"/>
          <p:nvPr>
            <p:custDataLst>
              <p:tags r:id="rId12"/>
            </p:custDataLst>
          </p:nvPr>
        </p:nvSpPr>
        <p:spPr>
          <a:xfrm>
            <a:off x="8451074" y="1101392"/>
            <a:ext cx="1925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DWS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张数据集，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张前台表）</a:t>
            </a:r>
          </a:p>
        </p:txBody>
      </p:sp>
      <p:sp>
        <p:nvSpPr>
          <p:cNvPr id="308" name="矩形 307"/>
          <p:cNvSpPr/>
          <p:nvPr>
            <p:custDataLst>
              <p:tags r:id="rId13"/>
            </p:custDataLst>
          </p:nvPr>
        </p:nvSpPr>
        <p:spPr>
          <a:xfrm>
            <a:off x="381000" y="4139565"/>
            <a:ext cx="1337945" cy="476250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" name="文本框 308"/>
          <p:cNvSpPr txBox="1"/>
          <p:nvPr>
            <p:custDataLst>
              <p:tags r:id="rId14"/>
            </p:custDataLst>
          </p:nvPr>
        </p:nvSpPr>
        <p:spPr>
          <a:xfrm>
            <a:off x="606425" y="4114800"/>
            <a:ext cx="876935" cy="136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政策系统</a:t>
            </a:r>
          </a:p>
        </p:txBody>
      </p:sp>
      <p:sp>
        <p:nvSpPr>
          <p:cNvPr id="316" name="文本框 315"/>
          <p:cNvSpPr txBox="1"/>
          <p:nvPr>
            <p:custDataLst>
              <p:tags r:id="rId15"/>
            </p:custDataLst>
          </p:nvPr>
        </p:nvSpPr>
        <p:spPr>
          <a:xfrm>
            <a:off x="706712" y="1307053"/>
            <a:ext cx="730667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321" name="矩形 320"/>
          <p:cNvSpPr/>
          <p:nvPr>
            <p:custDataLst>
              <p:tags r:id="rId16"/>
            </p:custDataLst>
          </p:nvPr>
        </p:nvSpPr>
        <p:spPr>
          <a:xfrm>
            <a:off x="2371335" y="2269773"/>
            <a:ext cx="1088390" cy="31623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往来账龄明细表</a:t>
            </a:r>
          </a:p>
        </p:txBody>
      </p:sp>
      <p:sp>
        <p:nvSpPr>
          <p:cNvPr id="325" name="矩形 324"/>
          <p:cNvSpPr/>
          <p:nvPr>
            <p:custDataLst>
              <p:tags r:id="rId17"/>
            </p:custDataLst>
          </p:nvPr>
        </p:nvSpPr>
        <p:spPr>
          <a:xfrm>
            <a:off x="290705" y="936856"/>
            <a:ext cx="1590314" cy="195792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数据源</a:t>
            </a:r>
          </a:p>
        </p:txBody>
      </p:sp>
      <p:sp>
        <p:nvSpPr>
          <p:cNvPr id="350" name="矩形 349"/>
          <p:cNvSpPr/>
          <p:nvPr>
            <p:custDataLst>
              <p:tags r:id="rId18"/>
            </p:custDataLst>
          </p:nvPr>
        </p:nvSpPr>
        <p:spPr>
          <a:xfrm>
            <a:off x="4140359" y="932373"/>
            <a:ext cx="7616040" cy="20027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管报平台</a:t>
            </a: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5" name="文本框 354"/>
          <p:cNvSpPr txBox="1"/>
          <p:nvPr>
            <p:custDataLst>
              <p:tags r:id="rId19"/>
            </p:custDataLst>
          </p:nvPr>
        </p:nvSpPr>
        <p:spPr>
          <a:xfrm>
            <a:off x="3126880" y="5793021"/>
            <a:ext cx="678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</a:p>
        </p:txBody>
      </p:sp>
      <p:sp>
        <p:nvSpPr>
          <p:cNvPr id="356" name="箭头: 上 178"/>
          <p:cNvSpPr/>
          <p:nvPr>
            <p:custDataLst>
              <p:tags r:id="rId20"/>
            </p:custDataLst>
          </p:nvPr>
        </p:nvSpPr>
        <p:spPr>
          <a:xfrm>
            <a:off x="3081016" y="5793210"/>
            <a:ext cx="294957" cy="168590"/>
          </a:xfrm>
          <a:prstGeom prst="upArrow">
            <a:avLst/>
          </a:prstGeom>
          <a:solidFill>
            <a:srgbClr val="17A7A4"/>
          </a:solidFill>
          <a:ln w="25400" cap="flat">
            <a:noFill/>
            <a:prstDash val="solid"/>
            <a:round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050" dirty="0">
              <a:solidFill>
                <a:srgbClr val="FFFFFF"/>
              </a:solidFill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6" name="矩形 365"/>
          <p:cNvSpPr/>
          <p:nvPr>
            <p:custDataLst>
              <p:tags r:id="rId21"/>
            </p:custDataLst>
          </p:nvPr>
        </p:nvSpPr>
        <p:spPr>
          <a:xfrm>
            <a:off x="1957761" y="5982393"/>
            <a:ext cx="3454132" cy="649589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" name="矩形 366"/>
          <p:cNvSpPr/>
          <p:nvPr>
            <p:custDataLst>
              <p:tags r:id="rId22"/>
            </p:custDataLst>
          </p:nvPr>
        </p:nvSpPr>
        <p:spPr>
          <a:xfrm>
            <a:off x="2152189" y="6055836"/>
            <a:ext cx="928827" cy="20426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利润中心映射表</a:t>
            </a:r>
          </a:p>
        </p:txBody>
      </p:sp>
      <p:sp>
        <p:nvSpPr>
          <p:cNvPr id="368" name="矩形 367"/>
          <p:cNvSpPr/>
          <p:nvPr>
            <p:custDataLst>
              <p:tags r:id="rId23"/>
            </p:custDataLst>
          </p:nvPr>
        </p:nvSpPr>
        <p:spPr>
          <a:xfrm>
            <a:off x="2152189" y="6334602"/>
            <a:ext cx="928827" cy="20427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业务范围映射表</a:t>
            </a:r>
          </a:p>
        </p:txBody>
      </p:sp>
      <p:sp>
        <p:nvSpPr>
          <p:cNvPr id="2" name="矩形 1"/>
          <p:cNvSpPr/>
          <p:nvPr>
            <p:custDataLst>
              <p:tags r:id="rId24"/>
            </p:custDataLst>
          </p:nvPr>
        </p:nvSpPr>
        <p:spPr>
          <a:xfrm>
            <a:off x="386080" y="5149850"/>
            <a:ext cx="1318895" cy="389255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5"/>
            </p:custDataLst>
          </p:nvPr>
        </p:nvSpPr>
        <p:spPr>
          <a:xfrm>
            <a:off x="211617" y="5102037"/>
            <a:ext cx="1590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财务中台</a:t>
            </a:r>
            <a:r>
              <a:rPr lang="en-US" altLang="zh-CN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问题资金系统</a:t>
            </a:r>
          </a:p>
        </p:txBody>
      </p:sp>
      <p:sp>
        <p:nvSpPr>
          <p:cNvPr id="4" name="矩形 3"/>
          <p:cNvSpPr/>
          <p:nvPr>
            <p:custDataLst>
              <p:tags r:id="rId26"/>
            </p:custDataLst>
          </p:nvPr>
        </p:nvSpPr>
        <p:spPr>
          <a:xfrm>
            <a:off x="417724" y="5298588"/>
            <a:ext cx="1264884" cy="198812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超期额数据</a:t>
            </a:r>
            <a:endParaRPr 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27"/>
            </p:custDataLst>
          </p:nvPr>
        </p:nvSpPr>
        <p:spPr>
          <a:xfrm>
            <a:off x="2362899" y="4836909"/>
            <a:ext cx="1088390" cy="26193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超期款明细表</a:t>
            </a:r>
          </a:p>
        </p:txBody>
      </p:sp>
      <p:sp>
        <p:nvSpPr>
          <p:cNvPr id="16" name="矩形 15"/>
          <p:cNvSpPr/>
          <p:nvPr>
            <p:custDataLst>
              <p:tags r:id="rId28"/>
            </p:custDataLst>
          </p:nvPr>
        </p:nvSpPr>
        <p:spPr>
          <a:xfrm>
            <a:off x="372745" y="4690745"/>
            <a:ext cx="1318895" cy="389255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9"/>
            </p:custDataLst>
          </p:nvPr>
        </p:nvSpPr>
        <p:spPr>
          <a:xfrm>
            <a:off x="565413" y="4642932"/>
            <a:ext cx="876791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SMS</a:t>
            </a:r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18" name="矩形 17"/>
          <p:cNvSpPr/>
          <p:nvPr>
            <p:custDataLst>
              <p:tags r:id="rId30"/>
            </p:custDataLst>
          </p:nvPr>
        </p:nvSpPr>
        <p:spPr>
          <a:xfrm>
            <a:off x="404389" y="4839483"/>
            <a:ext cx="1264884" cy="198812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返利余额汇总表</a:t>
            </a:r>
            <a:endParaRPr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31"/>
            </p:custDataLst>
          </p:nvPr>
        </p:nvSpPr>
        <p:spPr>
          <a:xfrm>
            <a:off x="386080" y="4323080"/>
            <a:ext cx="1288415" cy="23812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已确认未兑现政策余额数据</a:t>
            </a:r>
            <a:endParaRPr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>
            <p:custDataLst>
              <p:tags r:id="rId32"/>
            </p:custDataLst>
          </p:nvPr>
        </p:nvSpPr>
        <p:spPr>
          <a:xfrm>
            <a:off x="363047" y="2082079"/>
            <a:ext cx="1384987" cy="1109938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>
            <p:custDataLst>
              <p:tags r:id="rId33"/>
            </p:custDataLst>
          </p:nvPr>
        </p:nvSpPr>
        <p:spPr>
          <a:xfrm>
            <a:off x="441204" y="2136054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客户已清表</a:t>
            </a:r>
          </a:p>
        </p:txBody>
      </p:sp>
      <p:sp>
        <p:nvSpPr>
          <p:cNvPr id="25" name="矩形 24"/>
          <p:cNvSpPr/>
          <p:nvPr>
            <p:custDataLst>
              <p:tags r:id="rId34"/>
            </p:custDataLst>
          </p:nvPr>
        </p:nvSpPr>
        <p:spPr>
          <a:xfrm>
            <a:off x="445649" y="2382434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客户未清表</a:t>
            </a:r>
          </a:p>
        </p:txBody>
      </p:sp>
      <p:sp>
        <p:nvSpPr>
          <p:cNvPr id="26" name="矩形 25"/>
          <p:cNvSpPr/>
          <p:nvPr>
            <p:custDataLst>
              <p:tags r:id="rId35"/>
            </p:custDataLst>
          </p:nvPr>
        </p:nvSpPr>
        <p:spPr>
          <a:xfrm>
            <a:off x="441204" y="2651674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供应商已清表</a:t>
            </a:r>
          </a:p>
        </p:txBody>
      </p:sp>
      <p:sp>
        <p:nvSpPr>
          <p:cNvPr id="27" name="矩形 26"/>
          <p:cNvSpPr/>
          <p:nvPr>
            <p:custDataLst>
              <p:tags r:id="rId36"/>
            </p:custDataLst>
          </p:nvPr>
        </p:nvSpPr>
        <p:spPr>
          <a:xfrm>
            <a:off x="441204" y="2913294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供应商未清表</a:t>
            </a:r>
          </a:p>
        </p:txBody>
      </p:sp>
      <p:sp>
        <p:nvSpPr>
          <p:cNvPr id="32" name="矩形 31"/>
          <p:cNvSpPr/>
          <p:nvPr>
            <p:custDataLst>
              <p:tags r:id="rId37"/>
            </p:custDataLst>
          </p:nvPr>
        </p:nvSpPr>
        <p:spPr>
          <a:xfrm>
            <a:off x="363047" y="3333769"/>
            <a:ext cx="1318895" cy="438150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8"/>
            </p:custDataLst>
          </p:nvPr>
        </p:nvSpPr>
        <p:spPr>
          <a:xfrm>
            <a:off x="621755" y="3285956"/>
            <a:ext cx="876791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信汇平台</a:t>
            </a:r>
          </a:p>
        </p:txBody>
      </p:sp>
      <p:sp>
        <p:nvSpPr>
          <p:cNvPr id="34" name="矩形 33"/>
          <p:cNvSpPr/>
          <p:nvPr>
            <p:custDataLst>
              <p:tags r:id="rId39"/>
            </p:custDataLst>
          </p:nvPr>
        </p:nvSpPr>
        <p:spPr>
          <a:xfrm>
            <a:off x="394797" y="3482359"/>
            <a:ext cx="1279525" cy="25336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信汇明细表</a:t>
            </a:r>
            <a:endParaRPr 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>
            <p:custDataLst>
              <p:tags r:id="rId40"/>
            </p:custDataLst>
          </p:nvPr>
        </p:nvSpPr>
        <p:spPr>
          <a:xfrm>
            <a:off x="426720" y="6163265"/>
            <a:ext cx="1264896" cy="28793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ODS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层表单&amp;规则库映射</a:t>
            </a:r>
          </a:p>
        </p:txBody>
      </p:sp>
      <p:cxnSp>
        <p:nvCxnSpPr>
          <p:cNvPr id="41" name="直接箭头连接符 40"/>
          <p:cNvCxnSpPr>
            <a:cxnSpLocks/>
            <a:endCxn id="321" idx="1"/>
          </p:cNvCxnSpPr>
          <p:nvPr/>
        </p:nvCxnSpPr>
        <p:spPr>
          <a:xfrm>
            <a:off x="1735466" y="2427888"/>
            <a:ext cx="635869" cy="0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45" name="肘形连接符 44"/>
          <p:cNvCxnSpPr>
            <a:cxnSpLocks/>
            <a:stCxn id="34" idx="3"/>
            <a:endCxn id="321" idx="1"/>
          </p:cNvCxnSpPr>
          <p:nvPr/>
        </p:nvCxnSpPr>
        <p:spPr>
          <a:xfrm flipV="1">
            <a:off x="1674322" y="2427888"/>
            <a:ext cx="697013" cy="118115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6" name="文本框 5"/>
          <p:cNvSpPr txBox="1"/>
          <p:nvPr>
            <p:custDataLst>
              <p:tags r:id="rId41"/>
            </p:custDataLst>
          </p:nvPr>
        </p:nvSpPr>
        <p:spPr>
          <a:xfrm>
            <a:off x="10572723" y="1101392"/>
            <a:ext cx="7480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ADS</a:t>
            </a:r>
            <a:endParaRPr lang="zh-CN" altLang="en-US" sz="1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>
            <p:custDataLst>
              <p:tags r:id="rId42"/>
            </p:custDataLst>
          </p:nvPr>
        </p:nvSpPr>
        <p:spPr>
          <a:xfrm>
            <a:off x="4518179" y="1513755"/>
            <a:ext cx="1464734" cy="1249760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>
            <p:custDataLst>
              <p:tags r:id="rId43"/>
            </p:custDataLst>
          </p:nvPr>
        </p:nvSpPr>
        <p:spPr>
          <a:xfrm>
            <a:off x="4622102" y="2125534"/>
            <a:ext cx="1214786" cy="52613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往来账龄计算底稿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AW_MR9_ARPM01_000001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/>
          <p:cNvCxnSpPr/>
          <p:nvPr userDrawn="1"/>
        </p:nvCxnSpPr>
        <p:spPr>
          <a:xfrm flipH="1">
            <a:off x="5192375" y="1894460"/>
            <a:ext cx="2540" cy="231140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64" name="矩形 63"/>
          <p:cNvSpPr/>
          <p:nvPr>
            <p:custDataLst>
              <p:tags r:id="rId44"/>
            </p:custDataLst>
          </p:nvPr>
        </p:nvSpPr>
        <p:spPr>
          <a:xfrm>
            <a:off x="2371335" y="4212720"/>
            <a:ext cx="1088390" cy="29279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已确认未兑现返利金额明细表</a:t>
            </a:r>
          </a:p>
        </p:txBody>
      </p:sp>
      <p:cxnSp>
        <p:nvCxnSpPr>
          <p:cNvPr id="43" name="肘形连接符 42"/>
          <p:cNvCxnSpPr>
            <a:cxnSpLocks/>
            <a:stCxn id="21" idx="3"/>
            <a:endCxn id="52" idx="1"/>
          </p:cNvCxnSpPr>
          <p:nvPr userDrawn="1"/>
        </p:nvCxnSpPr>
        <p:spPr>
          <a:xfrm>
            <a:off x="1748034" y="2637048"/>
            <a:ext cx="622955" cy="1117236"/>
          </a:xfrm>
          <a:prstGeom prst="bentConnector3">
            <a:avLst>
              <a:gd name="adj1" fmla="val 46171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46" name="肘形连接符 45"/>
          <p:cNvCxnSpPr>
            <a:cxnSpLocks/>
            <a:stCxn id="2" idx="3"/>
            <a:endCxn id="9" idx="1"/>
          </p:cNvCxnSpPr>
          <p:nvPr userDrawn="1"/>
        </p:nvCxnSpPr>
        <p:spPr>
          <a:xfrm flipV="1">
            <a:off x="1704975" y="4967878"/>
            <a:ext cx="657924" cy="3766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70" name="矩形 69"/>
          <p:cNvSpPr/>
          <p:nvPr>
            <p:custDataLst>
              <p:tags r:id="rId45"/>
            </p:custDataLst>
          </p:nvPr>
        </p:nvSpPr>
        <p:spPr>
          <a:xfrm>
            <a:off x="3375951" y="6055814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对方公司映射</a:t>
            </a:r>
          </a:p>
        </p:txBody>
      </p:sp>
      <p:sp>
        <p:nvSpPr>
          <p:cNvPr id="73" name="矩形 72"/>
          <p:cNvSpPr/>
          <p:nvPr>
            <p:custDataLst>
              <p:tags r:id="rId46"/>
            </p:custDataLst>
          </p:nvPr>
        </p:nvSpPr>
        <p:spPr>
          <a:xfrm>
            <a:off x="3375951" y="6334602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渠道分组映射</a:t>
            </a:r>
          </a:p>
        </p:txBody>
      </p:sp>
      <p:sp>
        <p:nvSpPr>
          <p:cNvPr id="74" name="矩形 73"/>
          <p:cNvSpPr/>
          <p:nvPr>
            <p:custDataLst>
              <p:tags r:id="rId47"/>
            </p:custDataLst>
          </p:nvPr>
        </p:nvSpPr>
        <p:spPr>
          <a:xfrm>
            <a:off x="4479824" y="6057686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重分类规则配置</a:t>
            </a:r>
          </a:p>
        </p:txBody>
      </p:sp>
      <p:sp>
        <p:nvSpPr>
          <p:cNvPr id="77" name="矩形 76"/>
          <p:cNvSpPr/>
          <p:nvPr>
            <p:custDataLst>
              <p:tags r:id="rId48"/>
            </p:custDataLst>
          </p:nvPr>
        </p:nvSpPr>
        <p:spPr>
          <a:xfrm>
            <a:off x="4479804" y="6336474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账龄计算日期配置</a:t>
            </a:r>
          </a:p>
        </p:txBody>
      </p:sp>
      <p:sp>
        <p:nvSpPr>
          <p:cNvPr id="79" name="矩形 78"/>
          <p:cNvSpPr/>
          <p:nvPr>
            <p:custDataLst>
              <p:tags r:id="rId49"/>
            </p:custDataLst>
          </p:nvPr>
        </p:nvSpPr>
        <p:spPr>
          <a:xfrm>
            <a:off x="5570516" y="6057081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税率维护表</a:t>
            </a:r>
          </a:p>
        </p:txBody>
      </p:sp>
      <p:sp>
        <p:nvSpPr>
          <p:cNvPr id="80" name="矩形 79"/>
          <p:cNvSpPr/>
          <p:nvPr>
            <p:custDataLst>
              <p:tags r:id="rId50"/>
            </p:custDataLst>
          </p:nvPr>
        </p:nvSpPr>
        <p:spPr>
          <a:xfrm>
            <a:off x="5570516" y="6335869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性质维护表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0C76C49-66CD-45D1-1367-32A3C193C97E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2371335" y="2955647"/>
            <a:ext cx="1088390" cy="31623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提前回款明细表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5307300-E13E-C6EF-C37A-B28C7E53DC01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2370989" y="3596169"/>
            <a:ext cx="1088390" cy="31623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已账扣未报账欠付费用明细表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736448A-CD3C-8727-BF6B-F4A15DF358F4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363048" y="1513754"/>
            <a:ext cx="1374368" cy="484651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FBC343A-4D58-1A92-5A9D-C0755B9FEAA8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430585" y="1567729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客户主数据</a:t>
            </a:r>
          </a:p>
        </p:txBody>
      </p:sp>
      <p:sp>
        <p:nvSpPr>
          <p:cNvPr id="896" name="矩形 895">
            <a:extLst>
              <a:ext uri="{FF2B5EF4-FFF2-40B4-BE49-F238E27FC236}">
                <a16:creationId xmlns:a16="http://schemas.microsoft.com/office/drawing/2014/main" id="{FEDFC1C1-B94A-13D6-27C0-11C844599B55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435030" y="1814109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客户账期</a:t>
            </a:r>
          </a:p>
        </p:txBody>
      </p:sp>
      <p:sp>
        <p:nvSpPr>
          <p:cNvPr id="897" name="矩形 896">
            <a:extLst>
              <a:ext uri="{FF2B5EF4-FFF2-40B4-BE49-F238E27FC236}">
                <a16:creationId xmlns:a16="http://schemas.microsoft.com/office/drawing/2014/main" id="{B11F4257-160F-C0DB-EA42-81CE150594BB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2362899" y="1595079"/>
            <a:ext cx="1088390" cy="31623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客户账期明细表</a:t>
            </a:r>
          </a:p>
        </p:txBody>
      </p:sp>
      <p:cxnSp>
        <p:nvCxnSpPr>
          <p:cNvPr id="898" name="直接箭头连接符 897">
            <a:extLst>
              <a:ext uri="{FF2B5EF4-FFF2-40B4-BE49-F238E27FC236}">
                <a16:creationId xmlns:a16="http://schemas.microsoft.com/office/drawing/2014/main" id="{9886FA3F-47A7-A27F-04AB-57E26BD0F8AA}"/>
              </a:ext>
            </a:extLst>
          </p:cNvPr>
          <p:cNvCxnSpPr>
            <a:cxnSpLocks/>
            <a:stCxn id="53" idx="3"/>
            <a:endCxn id="897" idx="1"/>
          </p:cNvCxnSpPr>
          <p:nvPr/>
        </p:nvCxnSpPr>
        <p:spPr>
          <a:xfrm flipV="1">
            <a:off x="1737416" y="1753194"/>
            <a:ext cx="625483" cy="2886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05" name="肘形连接符 42">
            <a:extLst>
              <a:ext uri="{FF2B5EF4-FFF2-40B4-BE49-F238E27FC236}">
                <a16:creationId xmlns:a16="http://schemas.microsoft.com/office/drawing/2014/main" id="{EB244C97-BFCE-76DA-771C-E69A95866156}"/>
              </a:ext>
            </a:extLst>
          </p:cNvPr>
          <p:cNvCxnSpPr>
            <a:cxnSpLocks/>
            <a:stCxn id="21" idx="3"/>
            <a:endCxn id="51" idx="1"/>
          </p:cNvCxnSpPr>
          <p:nvPr/>
        </p:nvCxnSpPr>
        <p:spPr>
          <a:xfrm>
            <a:off x="1748034" y="2637048"/>
            <a:ext cx="623301" cy="476714"/>
          </a:xfrm>
          <a:prstGeom prst="bentConnector3">
            <a:avLst>
              <a:gd name="adj1" fmla="val 46173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3602CBED-5934-8FE5-4237-BC70035D7DBA}"/>
              </a:ext>
            </a:extLst>
          </p:cNvPr>
          <p:cNvCxnSpPr>
            <a:cxnSpLocks/>
            <a:stCxn id="21" idx="3"/>
            <a:endCxn id="64" idx="1"/>
          </p:cNvCxnSpPr>
          <p:nvPr/>
        </p:nvCxnSpPr>
        <p:spPr>
          <a:xfrm>
            <a:off x="1748034" y="2637048"/>
            <a:ext cx="623301" cy="1722070"/>
          </a:xfrm>
          <a:prstGeom prst="bentConnector3">
            <a:avLst>
              <a:gd name="adj1" fmla="val 44897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F9C60627-FA11-6FB3-7073-26230D406B74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1729184" y="4186569"/>
            <a:ext cx="642151" cy="172549"/>
          </a:xfrm>
          <a:prstGeom prst="bentConnector3">
            <a:avLst>
              <a:gd name="adj1" fmla="val 46836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CE7CE4F6-C59B-39CB-96F5-668F3BA26440}"/>
              </a:ext>
            </a:extLst>
          </p:cNvPr>
          <p:cNvCxnSpPr>
            <a:cxnSpLocks/>
            <a:stCxn id="16" idx="3"/>
            <a:endCxn id="64" idx="1"/>
          </p:cNvCxnSpPr>
          <p:nvPr/>
        </p:nvCxnSpPr>
        <p:spPr>
          <a:xfrm flipV="1">
            <a:off x="1691640" y="4359118"/>
            <a:ext cx="679695" cy="52625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08" name="矩形 907">
            <a:extLst>
              <a:ext uri="{FF2B5EF4-FFF2-40B4-BE49-F238E27FC236}">
                <a16:creationId xmlns:a16="http://schemas.microsoft.com/office/drawing/2014/main" id="{B533FC77-80EA-8D5D-32E3-4D00FC0E72D8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6520179" y="1507120"/>
            <a:ext cx="1464734" cy="1942279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7" name="矩形 906">
            <a:extLst>
              <a:ext uri="{FF2B5EF4-FFF2-40B4-BE49-F238E27FC236}">
                <a16:creationId xmlns:a16="http://schemas.microsoft.com/office/drawing/2014/main" id="{27BE3CD8-DB22-FABE-A066-06772B3AD324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6620678" y="1997653"/>
            <a:ext cx="1212936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坏账计算表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分摊前</a:t>
            </a:r>
          </a:p>
        </p:txBody>
      </p:sp>
      <p:sp>
        <p:nvSpPr>
          <p:cNvPr id="909" name="矩形 908">
            <a:extLst>
              <a:ext uri="{FF2B5EF4-FFF2-40B4-BE49-F238E27FC236}">
                <a16:creationId xmlns:a16="http://schemas.microsoft.com/office/drawing/2014/main" id="{6CCD3B73-9AED-CE8C-DBFE-AD8B4BECDEB7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6620678" y="2824380"/>
            <a:ext cx="1212936" cy="5588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坏账计算表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分摊后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AW_MR9_ARPM02_000001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8" name="矩形 937">
            <a:extLst>
              <a:ext uri="{FF2B5EF4-FFF2-40B4-BE49-F238E27FC236}">
                <a16:creationId xmlns:a16="http://schemas.microsoft.com/office/drawing/2014/main" id="{87EEE8B9-0851-C634-B598-B2CB3C4ABA5A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4407950" y="3125848"/>
            <a:ext cx="1890265" cy="1409897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4" name="连接符: 肘形 913">
            <a:extLst>
              <a:ext uri="{FF2B5EF4-FFF2-40B4-BE49-F238E27FC236}">
                <a16:creationId xmlns:a16="http://schemas.microsoft.com/office/drawing/2014/main" id="{EBFAFC53-0999-8F1D-23C9-7B258AEFC11A}"/>
              </a:ext>
            </a:extLst>
          </p:cNvPr>
          <p:cNvCxnSpPr>
            <a:cxnSpLocks/>
            <a:stCxn id="897" idx="3"/>
            <a:endCxn id="30" idx="1"/>
          </p:cNvCxnSpPr>
          <p:nvPr/>
        </p:nvCxnSpPr>
        <p:spPr>
          <a:xfrm>
            <a:off x="3451289" y="1753194"/>
            <a:ext cx="1066890" cy="385441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16" name="连接符: 肘形 915">
            <a:extLst>
              <a:ext uri="{FF2B5EF4-FFF2-40B4-BE49-F238E27FC236}">
                <a16:creationId xmlns:a16="http://schemas.microsoft.com/office/drawing/2014/main" id="{EDDB4380-ED90-6FBB-EAC1-C6D7D9E15651}"/>
              </a:ext>
            </a:extLst>
          </p:cNvPr>
          <p:cNvCxnSpPr>
            <a:cxnSpLocks/>
            <a:stCxn id="321" idx="3"/>
            <a:endCxn id="30" idx="1"/>
          </p:cNvCxnSpPr>
          <p:nvPr/>
        </p:nvCxnSpPr>
        <p:spPr>
          <a:xfrm flipV="1">
            <a:off x="3459725" y="2138635"/>
            <a:ext cx="1058454" cy="289253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18" name="连接符: 肘形 917">
            <a:extLst>
              <a:ext uri="{FF2B5EF4-FFF2-40B4-BE49-F238E27FC236}">
                <a16:creationId xmlns:a16="http://schemas.microsoft.com/office/drawing/2014/main" id="{6B62C98E-1C3C-A5B3-0409-BD4D6B0EAFAD}"/>
              </a:ext>
            </a:extLst>
          </p:cNvPr>
          <p:cNvCxnSpPr>
            <a:cxnSpLocks/>
            <a:stCxn id="30" idx="2"/>
            <a:endCxn id="910" idx="0"/>
          </p:cNvCxnSpPr>
          <p:nvPr/>
        </p:nvCxnSpPr>
        <p:spPr>
          <a:xfrm rot="5400000">
            <a:off x="4983148" y="3030913"/>
            <a:ext cx="534797" cy="1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20" name="连接符: 肘形 919">
            <a:extLst>
              <a:ext uri="{FF2B5EF4-FFF2-40B4-BE49-F238E27FC236}">
                <a16:creationId xmlns:a16="http://schemas.microsoft.com/office/drawing/2014/main" id="{755DD738-2DEB-962A-1138-BB1FCBC67804}"/>
              </a:ext>
            </a:extLst>
          </p:cNvPr>
          <p:cNvCxnSpPr>
            <a:cxnSpLocks/>
            <a:stCxn id="51" idx="3"/>
            <a:endCxn id="910" idx="1"/>
          </p:cNvCxnSpPr>
          <p:nvPr/>
        </p:nvCxnSpPr>
        <p:spPr>
          <a:xfrm>
            <a:off x="3459725" y="3113762"/>
            <a:ext cx="1159042" cy="4560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25" name="连接符: 肘形 924">
            <a:extLst>
              <a:ext uri="{FF2B5EF4-FFF2-40B4-BE49-F238E27FC236}">
                <a16:creationId xmlns:a16="http://schemas.microsoft.com/office/drawing/2014/main" id="{11B568F9-A1C2-AB52-489D-DF92C14AD357}"/>
              </a:ext>
            </a:extLst>
          </p:cNvPr>
          <p:cNvCxnSpPr>
            <a:cxnSpLocks/>
            <a:stCxn id="52" idx="3"/>
            <a:endCxn id="30" idx="1"/>
          </p:cNvCxnSpPr>
          <p:nvPr/>
        </p:nvCxnSpPr>
        <p:spPr>
          <a:xfrm flipV="1">
            <a:off x="3459379" y="2138635"/>
            <a:ext cx="1058800" cy="161564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28" name="连接符: 肘形 927">
            <a:extLst>
              <a:ext uri="{FF2B5EF4-FFF2-40B4-BE49-F238E27FC236}">
                <a16:creationId xmlns:a16="http://schemas.microsoft.com/office/drawing/2014/main" id="{9F005951-71DD-8ED6-1A05-2E05A566193E}"/>
              </a:ext>
            </a:extLst>
          </p:cNvPr>
          <p:cNvCxnSpPr>
            <a:cxnSpLocks/>
            <a:stCxn id="64" idx="3"/>
            <a:endCxn id="30" idx="1"/>
          </p:cNvCxnSpPr>
          <p:nvPr/>
        </p:nvCxnSpPr>
        <p:spPr>
          <a:xfrm flipV="1">
            <a:off x="3459725" y="2138635"/>
            <a:ext cx="1058454" cy="2220483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31" name="连接符: 肘形 930">
            <a:extLst>
              <a:ext uri="{FF2B5EF4-FFF2-40B4-BE49-F238E27FC236}">
                <a16:creationId xmlns:a16="http://schemas.microsoft.com/office/drawing/2014/main" id="{071A3128-6271-4326-F239-D407FEB75630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3451289" y="2138635"/>
            <a:ext cx="1066890" cy="2829243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34" name="连接符: 肘形 933">
            <a:extLst>
              <a:ext uri="{FF2B5EF4-FFF2-40B4-BE49-F238E27FC236}">
                <a16:creationId xmlns:a16="http://schemas.microsoft.com/office/drawing/2014/main" id="{E6E99809-BC09-2AA7-7732-424A1ABA68F1}"/>
              </a:ext>
            </a:extLst>
          </p:cNvPr>
          <p:cNvCxnSpPr>
            <a:cxnSpLocks/>
            <a:stCxn id="30" idx="3"/>
            <a:endCxn id="907" idx="1"/>
          </p:cNvCxnSpPr>
          <p:nvPr/>
        </p:nvCxnSpPr>
        <p:spPr>
          <a:xfrm>
            <a:off x="5982913" y="2138635"/>
            <a:ext cx="637765" cy="3502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36" name="连接符: 肘形 935">
            <a:extLst>
              <a:ext uri="{FF2B5EF4-FFF2-40B4-BE49-F238E27FC236}">
                <a16:creationId xmlns:a16="http://schemas.microsoft.com/office/drawing/2014/main" id="{30CBBFF3-D29F-0C22-5092-C38B0A8725D5}"/>
              </a:ext>
            </a:extLst>
          </p:cNvPr>
          <p:cNvCxnSpPr>
            <a:cxnSpLocks/>
            <a:stCxn id="907" idx="2"/>
            <a:endCxn id="909" idx="0"/>
          </p:cNvCxnSpPr>
          <p:nvPr/>
        </p:nvCxnSpPr>
        <p:spPr>
          <a:xfrm rot="5400000">
            <a:off x="6958267" y="2555500"/>
            <a:ext cx="537759" cy="12700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10" name="矩形 909">
            <a:extLst>
              <a:ext uri="{FF2B5EF4-FFF2-40B4-BE49-F238E27FC236}">
                <a16:creationId xmlns:a16="http://schemas.microsoft.com/office/drawing/2014/main" id="{BB80A89A-B59C-BD45-0241-5B85AB0A4A9E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4618767" y="3298312"/>
            <a:ext cx="1263555" cy="54301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占用明细表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AW_MR9_ARPM03_000001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1" name="矩形 910">
            <a:extLst>
              <a:ext uri="{FF2B5EF4-FFF2-40B4-BE49-F238E27FC236}">
                <a16:creationId xmlns:a16="http://schemas.microsoft.com/office/drawing/2014/main" id="{509782F3-E194-A26E-B928-E04644D0F377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4588925" y="3989079"/>
            <a:ext cx="1263555" cy="49241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收入明细表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AW_MR9_ARPM03_000002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1" name="连接符: 肘形 940">
            <a:extLst>
              <a:ext uri="{FF2B5EF4-FFF2-40B4-BE49-F238E27FC236}">
                <a16:creationId xmlns:a16="http://schemas.microsoft.com/office/drawing/2014/main" id="{A5D97C5A-5DFB-3C76-495B-0EA7D02152DA}"/>
              </a:ext>
            </a:extLst>
          </p:cNvPr>
          <p:cNvCxnSpPr>
            <a:cxnSpLocks/>
            <a:stCxn id="910" idx="3"/>
            <a:endCxn id="939" idx="1"/>
          </p:cNvCxnSpPr>
          <p:nvPr/>
        </p:nvCxnSpPr>
        <p:spPr>
          <a:xfrm>
            <a:off x="5882322" y="3569822"/>
            <a:ext cx="2855407" cy="27629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43" name="连接符: 肘形 942">
            <a:extLst>
              <a:ext uri="{FF2B5EF4-FFF2-40B4-BE49-F238E27FC236}">
                <a16:creationId xmlns:a16="http://schemas.microsoft.com/office/drawing/2014/main" id="{20A07269-3B30-DE39-2304-EFD5DF4BE7B2}"/>
              </a:ext>
            </a:extLst>
          </p:cNvPr>
          <p:cNvCxnSpPr>
            <a:cxnSpLocks/>
            <a:stCxn id="911" idx="3"/>
            <a:endCxn id="939" idx="1"/>
          </p:cNvCxnSpPr>
          <p:nvPr/>
        </p:nvCxnSpPr>
        <p:spPr>
          <a:xfrm flipV="1">
            <a:off x="5852480" y="3846121"/>
            <a:ext cx="2885249" cy="389163"/>
          </a:xfrm>
          <a:prstGeom prst="bentConnector3">
            <a:avLst>
              <a:gd name="adj1" fmla="val 5047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44" name="矩形 943">
            <a:extLst>
              <a:ext uri="{FF2B5EF4-FFF2-40B4-BE49-F238E27FC236}">
                <a16:creationId xmlns:a16="http://schemas.microsoft.com/office/drawing/2014/main" id="{90FB2B3D-1DFE-A705-ED5E-FEE84C930D59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4541429" y="4741480"/>
            <a:ext cx="1358550" cy="448358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5" name="矩形 944">
            <a:extLst>
              <a:ext uri="{FF2B5EF4-FFF2-40B4-BE49-F238E27FC236}">
                <a16:creationId xmlns:a16="http://schemas.microsoft.com/office/drawing/2014/main" id="{4D3DC647-78B2-7345-4D5E-B0F60DAE3DEA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4593907" y="4829745"/>
            <a:ext cx="1140280" cy="317347"/>
          </a:xfrm>
          <a:prstGeom prst="rect">
            <a:avLst/>
          </a:prstGeom>
          <a:solidFill>
            <a:srgbClr val="2D7D7F"/>
          </a:solidFill>
          <a:ln w="12700" cap="flat" cmpd="sng" algn="ctr">
            <a:solidFill>
              <a:srgbClr val="F2F2F2"/>
            </a:solidFill>
            <a:prstDash val="lg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单体销售明细表（一期）</a:t>
            </a:r>
          </a:p>
        </p:txBody>
      </p:sp>
      <p:cxnSp>
        <p:nvCxnSpPr>
          <p:cNvPr id="947" name="连接符: 肘形 946">
            <a:extLst>
              <a:ext uri="{FF2B5EF4-FFF2-40B4-BE49-F238E27FC236}">
                <a16:creationId xmlns:a16="http://schemas.microsoft.com/office/drawing/2014/main" id="{292B888E-EE1F-8A22-C818-F78DFFF3D3A9}"/>
              </a:ext>
            </a:extLst>
          </p:cNvPr>
          <p:cNvCxnSpPr>
            <a:cxnSpLocks/>
            <a:stCxn id="944" idx="0"/>
            <a:endCxn id="911" idx="2"/>
          </p:cNvCxnSpPr>
          <p:nvPr/>
        </p:nvCxnSpPr>
        <p:spPr>
          <a:xfrm rot="16200000" flipV="1">
            <a:off x="5090709" y="4611484"/>
            <a:ext cx="259991" cy="1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52" name="文本框 951">
            <a:extLst>
              <a:ext uri="{FF2B5EF4-FFF2-40B4-BE49-F238E27FC236}">
                <a16:creationId xmlns:a16="http://schemas.microsoft.com/office/drawing/2014/main" id="{38F136A2-0023-DF7B-9A3E-33AB6FDA8606}"/>
              </a:ext>
            </a:extLst>
          </p:cNvPr>
          <p:cNvSpPr txBox="1"/>
          <p:nvPr/>
        </p:nvSpPr>
        <p:spPr>
          <a:xfrm>
            <a:off x="6492845" y="2251891"/>
            <a:ext cx="1583450" cy="5588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分摊处理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按客户计算的坏账分摊到正数的利润中心上</a:t>
            </a:r>
          </a:p>
        </p:txBody>
      </p:sp>
      <p:sp>
        <p:nvSpPr>
          <p:cNvPr id="957" name="矩形 956">
            <a:extLst>
              <a:ext uri="{FF2B5EF4-FFF2-40B4-BE49-F238E27FC236}">
                <a16:creationId xmlns:a16="http://schemas.microsoft.com/office/drawing/2014/main" id="{3EF2907B-6FA5-A010-A079-063C53121E6E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10633684" y="5955676"/>
            <a:ext cx="1434288" cy="20027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管报平台</a:t>
            </a: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9" name="矩形 958">
            <a:extLst>
              <a:ext uri="{FF2B5EF4-FFF2-40B4-BE49-F238E27FC236}">
                <a16:creationId xmlns:a16="http://schemas.microsoft.com/office/drawing/2014/main" id="{824E593E-8401-A3D6-09F3-D5484BAC5901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10647518" y="6235167"/>
            <a:ext cx="1359494" cy="504300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21054D9-2F57-9360-911E-44DF883A3034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10829563" y="6335205"/>
            <a:ext cx="994568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账龄明细表</a:t>
            </a:r>
          </a:p>
        </p:txBody>
      </p: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EC0902C6-E42C-A188-13E1-33B8416A6178}"/>
              </a:ext>
            </a:extLst>
          </p:cNvPr>
          <p:cNvCxnSpPr>
            <a:cxnSpLocks/>
            <a:stCxn id="100" idx="2"/>
            <a:endCxn id="78" idx="1"/>
          </p:cNvCxnSpPr>
          <p:nvPr/>
        </p:nvCxnSpPr>
        <p:spPr>
          <a:xfrm rot="16200000" flipH="1">
            <a:off x="7950357" y="3600483"/>
            <a:ext cx="4245724" cy="1512688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0" name="矩形 99">
            <a:extLst>
              <a:ext uri="{FF2B5EF4-FFF2-40B4-BE49-F238E27FC236}">
                <a16:creationId xmlns:a16="http://schemas.microsoft.com/office/drawing/2014/main" id="{8F04F1DD-78D9-3E97-85C7-9EF28A568601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8686668" y="1651880"/>
            <a:ext cx="1260413" cy="58208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账龄明细表（含坏账）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AW_MR8_ARPS01_000001</a:t>
            </a:r>
          </a:p>
        </p:txBody>
      </p: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68627388-0FC8-59FA-664D-4D857C583679}"/>
              </a:ext>
            </a:extLst>
          </p:cNvPr>
          <p:cNvCxnSpPr>
            <a:cxnSpLocks/>
            <a:stCxn id="30" idx="0"/>
            <a:endCxn id="100" idx="0"/>
          </p:cNvCxnSpPr>
          <p:nvPr/>
        </p:nvCxnSpPr>
        <p:spPr>
          <a:xfrm rot="16200000" flipH="1">
            <a:off x="7214647" y="-450347"/>
            <a:ext cx="138125" cy="4066329"/>
          </a:xfrm>
          <a:prstGeom prst="bentConnector3">
            <a:avLst>
              <a:gd name="adj1" fmla="val -77234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333" name="矩形 332">
            <a:extLst>
              <a:ext uri="{FF2B5EF4-FFF2-40B4-BE49-F238E27FC236}">
                <a16:creationId xmlns:a16="http://schemas.microsoft.com/office/drawing/2014/main" id="{6EF42542-9BD5-EB87-714E-488321072A79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6514464" y="6055814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坏账计提配置</a:t>
            </a:r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5E71C021-1EE1-6143-EFCC-ED065FE2490A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6499629" y="6334602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主分户配置表</a:t>
            </a:r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622D65DF-0AD6-FB45-6771-296AA9B155F2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8321826" y="6166939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周转指标配置</a:t>
            </a:r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462D7B62-A14D-7A13-CFC8-1E6F24A5E0C3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6360050" y="5792852"/>
            <a:ext cx="678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</a:p>
        </p:txBody>
      </p:sp>
      <p:sp>
        <p:nvSpPr>
          <p:cNvPr id="338" name="箭头: 上 178">
            <a:extLst>
              <a:ext uri="{FF2B5EF4-FFF2-40B4-BE49-F238E27FC236}">
                <a16:creationId xmlns:a16="http://schemas.microsoft.com/office/drawing/2014/main" id="{E4DC4331-2CD1-EBE1-6869-1155BB951741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6314186" y="5793041"/>
            <a:ext cx="294957" cy="168590"/>
          </a:xfrm>
          <a:prstGeom prst="upArrow">
            <a:avLst/>
          </a:prstGeom>
          <a:solidFill>
            <a:srgbClr val="17A7A4"/>
          </a:solidFill>
          <a:ln w="25400" cap="flat">
            <a:noFill/>
            <a:prstDash val="solid"/>
            <a:round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050" dirty="0">
              <a:solidFill>
                <a:srgbClr val="FFFFFF"/>
              </a:solidFill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DB0E1755-E544-42B6-3F43-A53E8742FEF2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5637241" y="5267843"/>
            <a:ext cx="1526440" cy="476986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696314E1-0ED9-B5D5-0261-4C8434B512A0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5775460" y="5365798"/>
            <a:ext cx="1263555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应收占用手工补录表</a:t>
            </a:r>
          </a:p>
        </p:txBody>
      </p:sp>
      <p:cxnSp>
        <p:nvCxnSpPr>
          <p:cNvPr id="344" name="连接符: 肘形 343">
            <a:extLst>
              <a:ext uri="{FF2B5EF4-FFF2-40B4-BE49-F238E27FC236}">
                <a16:creationId xmlns:a16="http://schemas.microsoft.com/office/drawing/2014/main" id="{AB79A62A-8965-E558-E148-84C7F401D4D7}"/>
              </a:ext>
            </a:extLst>
          </p:cNvPr>
          <p:cNvCxnSpPr>
            <a:cxnSpLocks/>
            <a:stCxn id="342" idx="0"/>
            <a:endCxn id="910" idx="0"/>
          </p:cNvCxnSpPr>
          <p:nvPr/>
        </p:nvCxnSpPr>
        <p:spPr>
          <a:xfrm rot="16200000" flipV="1">
            <a:off x="4840738" y="3708120"/>
            <a:ext cx="1969531" cy="1149916"/>
          </a:xfrm>
          <a:prstGeom prst="bentConnector3">
            <a:avLst>
              <a:gd name="adj1" fmla="val 111607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9363289-B218-0C1C-6F11-9765DFDA5E35}"/>
              </a:ext>
            </a:extLst>
          </p:cNvPr>
          <p:cNvSpPr txBox="1"/>
          <p:nvPr/>
        </p:nvSpPr>
        <p:spPr>
          <a:xfrm>
            <a:off x="2376242" y="1834181"/>
            <a:ext cx="1170729" cy="500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维度映射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往来账龄计算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重分类打标处理、</a:t>
            </a:r>
          </a:p>
        </p:txBody>
      </p:sp>
      <p:sp>
        <p:nvSpPr>
          <p:cNvPr id="59" name="矩形 58"/>
          <p:cNvSpPr/>
          <p:nvPr>
            <p:custDataLst>
              <p:tags r:id="rId76"/>
            </p:custDataLst>
          </p:nvPr>
        </p:nvSpPr>
        <p:spPr>
          <a:xfrm>
            <a:off x="4588925" y="1605492"/>
            <a:ext cx="1212936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往来账龄调整表</a:t>
            </a:r>
          </a:p>
        </p:txBody>
      </p:sp>
      <p:sp>
        <p:nvSpPr>
          <p:cNvPr id="929" name="矩形 928">
            <a:extLst>
              <a:ext uri="{FF2B5EF4-FFF2-40B4-BE49-F238E27FC236}">
                <a16:creationId xmlns:a16="http://schemas.microsoft.com/office/drawing/2014/main" id="{B4FB603A-3C5C-C890-F04F-77B6FA135CD3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394797" y="5634598"/>
            <a:ext cx="1318895" cy="389255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40C4EABC-5DEE-8F90-B6A1-33D805C26BE8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612865" y="5586785"/>
            <a:ext cx="876791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信数系统</a:t>
            </a:r>
          </a:p>
        </p:txBody>
      </p:sp>
      <p:sp>
        <p:nvSpPr>
          <p:cNvPr id="932" name="矩形 931">
            <a:extLst>
              <a:ext uri="{FF2B5EF4-FFF2-40B4-BE49-F238E27FC236}">
                <a16:creationId xmlns:a16="http://schemas.microsoft.com/office/drawing/2014/main" id="{860B4980-4AF5-9F63-62B1-D2C6978ECD72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426441" y="5783336"/>
            <a:ext cx="1264884" cy="198812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国际营销应收占用数</a:t>
            </a:r>
            <a:endParaRPr 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7" name="矩形 936">
            <a:extLst>
              <a:ext uri="{FF2B5EF4-FFF2-40B4-BE49-F238E27FC236}">
                <a16:creationId xmlns:a16="http://schemas.microsoft.com/office/drawing/2014/main" id="{38EC933A-D376-7B2F-568E-7FD1828ECD33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2362899" y="5462517"/>
            <a:ext cx="1088390" cy="31650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国际营销应收占用明细表</a:t>
            </a:r>
          </a:p>
        </p:txBody>
      </p:sp>
      <p:cxnSp>
        <p:nvCxnSpPr>
          <p:cNvPr id="940" name="肘形连接符 45">
            <a:extLst>
              <a:ext uri="{FF2B5EF4-FFF2-40B4-BE49-F238E27FC236}">
                <a16:creationId xmlns:a16="http://schemas.microsoft.com/office/drawing/2014/main" id="{9BE111BB-734F-5A43-0401-9D2F05841A5D}"/>
              </a:ext>
            </a:extLst>
          </p:cNvPr>
          <p:cNvCxnSpPr>
            <a:cxnSpLocks/>
            <a:stCxn id="932" idx="3"/>
            <a:endCxn id="937" idx="1"/>
          </p:cNvCxnSpPr>
          <p:nvPr/>
        </p:nvCxnSpPr>
        <p:spPr>
          <a:xfrm flipV="1">
            <a:off x="1691325" y="5620772"/>
            <a:ext cx="671574" cy="261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48" name="连接符: 肘形 947">
            <a:extLst>
              <a:ext uri="{FF2B5EF4-FFF2-40B4-BE49-F238E27FC236}">
                <a16:creationId xmlns:a16="http://schemas.microsoft.com/office/drawing/2014/main" id="{BBAE9E3D-0856-E34E-3BC0-0F43DA266996}"/>
              </a:ext>
            </a:extLst>
          </p:cNvPr>
          <p:cNvCxnSpPr>
            <a:cxnSpLocks/>
            <a:stCxn id="937" idx="3"/>
            <a:endCxn id="910" idx="1"/>
          </p:cNvCxnSpPr>
          <p:nvPr/>
        </p:nvCxnSpPr>
        <p:spPr>
          <a:xfrm flipV="1">
            <a:off x="3451289" y="3569822"/>
            <a:ext cx="1167478" cy="20509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39" name="矩形 938">
            <a:extLst>
              <a:ext uri="{FF2B5EF4-FFF2-40B4-BE49-F238E27FC236}">
                <a16:creationId xmlns:a16="http://schemas.microsoft.com/office/drawing/2014/main" id="{ED3AA745-B6D5-A06C-5FC1-4EFD791921CE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8737729" y="3577442"/>
            <a:ext cx="1269698" cy="537357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应收周转明细表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（占用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收入）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AW_MR8_ARPS03_000001</a:t>
            </a: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75C3C149-91BB-5519-914B-6E016B475DB0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8672472" y="4446703"/>
            <a:ext cx="1408770" cy="1183184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5" name="矩形 914">
            <a:extLst>
              <a:ext uri="{FF2B5EF4-FFF2-40B4-BE49-F238E27FC236}">
                <a16:creationId xmlns:a16="http://schemas.microsoft.com/office/drawing/2014/main" id="{2E6F284C-F6BF-D376-EC90-A99A18108E6F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8749656" y="2699827"/>
            <a:ext cx="1245844" cy="47906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应收周转分析明细表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p:cxnSp>
        <p:nvCxnSpPr>
          <p:cNvPr id="922" name="直接箭头连接符 921">
            <a:extLst>
              <a:ext uri="{FF2B5EF4-FFF2-40B4-BE49-F238E27FC236}">
                <a16:creationId xmlns:a16="http://schemas.microsoft.com/office/drawing/2014/main" id="{8C9728A7-DD4F-D5F8-2C07-B63D58387A69}"/>
              </a:ext>
            </a:extLst>
          </p:cNvPr>
          <p:cNvCxnSpPr>
            <a:cxnSpLocks/>
            <a:stCxn id="939" idx="0"/>
            <a:endCxn id="915" idx="2"/>
          </p:cNvCxnSpPr>
          <p:nvPr/>
        </p:nvCxnSpPr>
        <p:spPr>
          <a:xfrm flipV="1">
            <a:off x="9372578" y="3178887"/>
            <a:ext cx="0" cy="398555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F54F18A1-318A-0E18-47EE-D392E59FD7A2}"/>
              </a:ext>
            </a:extLst>
          </p:cNvPr>
          <p:cNvSpPr/>
          <p:nvPr>
            <p:custDataLst>
              <p:tags r:id="rId84"/>
            </p:custDataLst>
          </p:nvPr>
        </p:nvSpPr>
        <p:spPr>
          <a:xfrm>
            <a:off x="10442070" y="3647603"/>
            <a:ext cx="1127895" cy="38910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指标表（应收周转）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4FDFC983-4A7F-C466-CAD0-2ADC29EFCC8A}"/>
              </a:ext>
            </a:extLst>
          </p:cNvPr>
          <p:cNvCxnSpPr>
            <a:cxnSpLocks/>
            <a:stCxn id="939" idx="2"/>
            <a:endCxn id="271" idx="0"/>
          </p:cNvCxnSpPr>
          <p:nvPr/>
        </p:nvCxnSpPr>
        <p:spPr>
          <a:xfrm>
            <a:off x="9372578" y="4114799"/>
            <a:ext cx="4279" cy="331904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265" name="直接箭头连接符 264">
            <a:extLst>
              <a:ext uri="{FF2B5EF4-FFF2-40B4-BE49-F238E27FC236}">
                <a16:creationId xmlns:a16="http://schemas.microsoft.com/office/drawing/2014/main" id="{B2BEE3AD-AA5C-02B7-7A2A-6AC23AEA3E50}"/>
              </a:ext>
            </a:extLst>
          </p:cNvPr>
          <p:cNvCxnSpPr>
            <a:cxnSpLocks/>
            <a:stCxn id="939" idx="3"/>
            <a:endCxn id="65" idx="1"/>
          </p:cNvCxnSpPr>
          <p:nvPr/>
        </p:nvCxnSpPr>
        <p:spPr>
          <a:xfrm flipV="1">
            <a:off x="10007427" y="3842156"/>
            <a:ext cx="434643" cy="3965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270" name="矩形 269">
            <a:extLst>
              <a:ext uri="{FF2B5EF4-FFF2-40B4-BE49-F238E27FC236}">
                <a16:creationId xmlns:a16="http://schemas.microsoft.com/office/drawing/2014/main" id="{39C6F9E9-6CEE-D4AF-B623-E5B945B06A06}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8726329" y="5074239"/>
            <a:ext cx="1292498" cy="41619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应收周转分析表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矩阵表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60C09ACC-4E49-FADE-3992-28B058739F45}"/>
              </a:ext>
            </a:extLst>
          </p:cNvPr>
          <p:cNvSpPr/>
          <p:nvPr>
            <p:custDataLst>
              <p:tags r:id="rId86"/>
            </p:custDataLst>
          </p:nvPr>
        </p:nvSpPr>
        <p:spPr>
          <a:xfrm>
            <a:off x="8726145" y="4555774"/>
            <a:ext cx="1292498" cy="41619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应收周转分析表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矩阵表</a:t>
            </a: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DF619EE2-ADD2-7FFE-923D-5E0F74D7658F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8646018" y="5810211"/>
            <a:ext cx="678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</a:p>
        </p:txBody>
      </p:sp>
      <p:sp>
        <p:nvSpPr>
          <p:cNvPr id="275" name="箭头: 上 178">
            <a:extLst>
              <a:ext uri="{FF2B5EF4-FFF2-40B4-BE49-F238E27FC236}">
                <a16:creationId xmlns:a16="http://schemas.microsoft.com/office/drawing/2014/main" id="{84E8E360-817A-365C-581E-B1A4422B33D2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8600154" y="5810400"/>
            <a:ext cx="294957" cy="168590"/>
          </a:xfrm>
          <a:prstGeom prst="upArrow">
            <a:avLst/>
          </a:prstGeom>
          <a:solidFill>
            <a:srgbClr val="17A7A4"/>
          </a:solidFill>
          <a:ln w="25400" cap="flat">
            <a:noFill/>
            <a:prstDash val="solid"/>
            <a:round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050" dirty="0">
              <a:solidFill>
                <a:srgbClr val="FFFFFF"/>
              </a:solidFill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1B083C23-17EA-0BD1-1F86-48001FF69DFF}"/>
              </a:ext>
            </a:extLst>
          </p:cNvPr>
          <p:cNvSpPr txBox="1"/>
          <p:nvPr/>
        </p:nvSpPr>
        <p:spPr>
          <a:xfrm>
            <a:off x="2362899" y="2590183"/>
            <a:ext cx="1600542" cy="3547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本账期回款金额</a:t>
            </a:r>
            <a:r>
              <a:rPr lang="en-US" altLang="zh-CN" sz="1000" b="1" dirty="0">
                <a:solidFill>
                  <a:srgbClr val="7030A0"/>
                </a:solidFill>
              </a:rPr>
              <a:t>-</a:t>
            </a:r>
            <a:r>
              <a:rPr lang="zh-CN" altLang="en-US" sz="1000" b="1" dirty="0">
                <a:solidFill>
                  <a:srgbClr val="7030A0"/>
                </a:solidFill>
              </a:rPr>
              <a:t>应收合计数计算提前回款金额</a:t>
            </a: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8A099E32-00E3-AC1D-A98C-7E33D846049E}"/>
              </a:ext>
            </a:extLst>
          </p:cNvPr>
          <p:cNvSpPr txBox="1"/>
          <p:nvPr/>
        </p:nvSpPr>
        <p:spPr>
          <a:xfrm>
            <a:off x="2339283" y="3226941"/>
            <a:ext cx="1683862" cy="3547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客户行项目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原因代码</a:t>
            </a:r>
            <a:r>
              <a:rPr lang="en-US" altLang="zh-CN" sz="1000" b="1" dirty="0">
                <a:solidFill>
                  <a:srgbClr val="7030A0"/>
                </a:solidFill>
              </a:rPr>
              <a:t>800</a:t>
            </a:r>
            <a:r>
              <a:rPr lang="zh-CN" altLang="en-US" sz="1000" b="1" dirty="0">
                <a:solidFill>
                  <a:srgbClr val="7030A0"/>
                </a:solidFill>
              </a:rPr>
              <a:t>，凭证类型</a:t>
            </a:r>
            <a:r>
              <a:rPr lang="en-US" altLang="zh-CN" sz="1000" b="1" dirty="0" err="1">
                <a:solidFill>
                  <a:srgbClr val="7030A0"/>
                </a:solidFill>
              </a:rPr>
              <a:t>zz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C8A5914E-6EA9-8EAA-E050-F87784ACA6E2}"/>
              </a:ext>
            </a:extLst>
          </p:cNvPr>
          <p:cNvSpPr txBox="1"/>
          <p:nvPr/>
        </p:nvSpPr>
        <p:spPr>
          <a:xfrm>
            <a:off x="2335118" y="3864303"/>
            <a:ext cx="1683862" cy="3547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 dirty="0">
                <a:solidFill>
                  <a:srgbClr val="7030A0"/>
                </a:solidFill>
              </a:rPr>
              <a:t>SAP</a:t>
            </a:r>
            <a:r>
              <a:rPr lang="zh-CN" altLang="en-US" sz="1000" b="1" dirty="0">
                <a:solidFill>
                  <a:srgbClr val="7030A0"/>
                </a:solidFill>
              </a:rPr>
              <a:t>客户行项目</a:t>
            </a:r>
            <a:r>
              <a:rPr lang="en-US" altLang="zh-CN" sz="1000" b="1" dirty="0">
                <a:solidFill>
                  <a:srgbClr val="7030A0"/>
                </a:solidFill>
              </a:rPr>
              <a:t>+</a:t>
            </a:r>
            <a:r>
              <a:rPr lang="zh-CN" altLang="en-US" sz="1000" b="1" dirty="0">
                <a:solidFill>
                  <a:srgbClr val="7030A0"/>
                </a:solidFill>
              </a:rPr>
              <a:t>政策系统期末欠付</a:t>
            </a:r>
            <a:r>
              <a:rPr lang="en-US" altLang="zh-CN" sz="1000" b="1" dirty="0">
                <a:solidFill>
                  <a:srgbClr val="7030A0"/>
                </a:solidFill>
              </a:rPr>
              <a:t>+SMS</a:t>
            </a:r>
            <a:r>
              <a:rPr lang="zh-CN" altLang="en-US" sz="1000" b="1" dirty="0">
                <a:solidFill>
                  <a:srgbClr val="7030A0"/>
                </a:solidFill>
              </a:rPr>
              <a:t>返利余额</a:t>
            </a:r>
            <a:endParaRPr lang="en-US" altLang="zh-CN" sz="1000" b="1" dirty="0">
              <a:solidFill>
                <a:srgbClr val="7030A0"/>
              </a:solidFill>
            </a:endParaRP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BE7BEC8F-DC48-4F2B-441D-AF15FC4BF67B}"/>
              </a:ext>
            </a:extLst>
          </p:cNvPr>
          <p:cNvSpPr txBox="1"/>
          <p:nvPr/>
        </p:nvSpPr>
        <p:spPr>
          <a:xfrm>
            <a:off x="2362899" y="4470806"/>
            <a:ext cx="1683862" cy="3547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问题资金系统各公司超期款及开票样机明细数据</a:t>
            </a:r>
            <a:endParaRPr lang="en-US" altLang="zh-CN" sz="1000" b="1" dirty="0">
              <a:solidFill>
                <a:srgbClr val="7030A0"/>
              </a:solidFill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6557F0CC-F859-9123-FD3F-AE942FB50E9B}"/>
              </a:ext>
            </a:extLst>
          </p:cNvPr>
          <p:cNvSpPr txBox="1"/>
          <p:nvPr/>
        </p:nvSpPr>
        <p:spPr>
          <a:xfrm>
            <a:off x="2425696" y="5080086"/>
            <a:ext cx="1555760" cy="3547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国际营销对外的日立、商显占用数</a:t>
            </a:r>
            <a:endParaRPr lang="en-US" altLang="zh-CN" sz="1000" b="1" dirty="0">
              <a:solidFill>
                <a:srgbClr val="7030A0"/>
              </a:solidFill>
            </a:endParaRPr>
          </a:p>
        </p:txBody>
      </p:sp>
      <p:cxnSp>
        <p:nvCxnSpPr>
          <p:cNvPr id="358" name="连接符: 肘形 357">
            <a:extLst>
              <a:ext uri="{FF2B5EF4-FFF2-40B4-BE49-F238E27FC236}">
                <a16:creationId xmlns:a16="http://schemas.microsoft.com/office/drawing/2014/main" id="{70BE7AC1-2A81-CE58-DF0C-661E4271A5D8}"/>
              </a:ext>
            </a:extLst>
          </p:cNvPr>
          <p:cNvCxnSpPr>
            <a:cxnSpLocks/>
            <a:stCxn id="908" idx="3"/>
            <a:endCxn id="100" idx="1"/>
          </p:cNvCxnSpPr>
          <p:nvPr/>
        </p:nvCxnSpPr>
        <p:spPr>
          <a:xfrm flipV="1">
            <a:off x="7984913" y="1942923"/>
            <a:ext cx="701755" cy="535337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E5B67234-6AE7-F4D7-C38D-1370AAF0A9A0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10643419" y="4693548"/>
            <a:ext cx="1354667" cy="230833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财务中台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DC5544-EE47-733F-5F33-C15FDA414B1F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10710513" y="5098847"/>
            <a:ext cx="1220479" cy="475621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CC7C73-B4A1-582A-5172-7445BA923D0A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10868812" y="5208432"/>
            <a:ext cx="981723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坏账接口表</a:t>
            </a: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FE91763E-C7E2-ACD4-95E6-DF258ABC7050}"/>
              </a:ext>
            </a:extLst>
          </p:cNvPr>
          <p:cNvCxnSpPr>
            <a:cxnSpLocks/>
            <a:stCxn id="100" idx="3"/>
            <a:endCxn id="13" idx="1"/>
          </p:cNvCxnSpPr>
          <p:nvPr/>
        </p:nvCxnSpPr>
        <p:spPr>
          <a:xfrm>
            <a:off x="9947081" y="1942923"/>
            <a:ext cx="921731" cy="340999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AB3834D-E7D7-1D91-34BD-109CBCF8607C}"/>
              </a:ext>
            </a:extLst>
          </p:cNvPr>
          <p:cNvSpPr txBox="1"/>
          <p:nvPr/>
        </p:nvSpPr>
        <p:spPr>
          <a:xfrm>
            <a:off x="9372578" y="6255684"/>
            <a:ext cx="1269550" cy="5311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二期范围内公司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账龄和坏账从</a:t>
            </a:r>
            <a:r>
              <a:rPr lang="en-US" altLang="zh-CN" sz="1000" b="1" dirty="0">
                <a:solidFill>
                  <a:srgbClr val="7030A0"/>
                </a:solidFill>
              </a:rPr>
              <a:t>2.0</a:t>
            </a:r>
            <a:r>
              <a:rPr lang="zh-CN" altLang="en-US" sz="1000" b="1" dirty="0">
                <a:solidFill>
                  <a:srgbClr val="7030A0"/>
                </a:solidFill>
              </a:rPr>
              <a:t>推送到</a:t>
            </a:r>
            <a:r>
              <a:rPr lang="en-US" altLang="zh-CN" sz="1000" b="1" dirty="0">
                <a:solidFill>
                  <a:srgbClr val="7030A0"/>
                </a:solidFill>
              </a:rPr>
              <a:t>1.0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77DFAB8-F2FC-830D-C220-0E51B4B5F4B3}"/>
              </a:ext>
            </a:extLst>
          </p:cNvPr>
          <p:cNvSpPr txBox="1"/>
          <p:nvPr/>
        </p:nvSpPr>
        <p:spPr>
          <a:xfrm>
            <a:off x="10049974" y="4891080"/>
            <a:ext cx="1269550" cy="5311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二期范围内公司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坏账从</a:t>
            </a:r>
            <a:r>
              <a:rPr lang="en-US" altLang="zh-CN" sz="1000" b="1" dirty="0">
                <a:solidFill>
                  <a:srgbClr val="7030A0"/>
                </a:solidFill>
              </a:rPr>
              <a:t>2.0</a:t>
            </a:r>
            <a:r>
              <a:rPr lang="zh-CN" altLang="en-US" sz="1000" b="1" dirty="0">
                <a:solidFill>
                  <a:srgbClr val="7030A0"/>
                </a:solidFill>
              </a:rPr>
              <a:t>推送到财务中台</a:t>
            </a: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D2D1E8C5-420A-927A-0576-0B80B18F89E3}"/>
              </a:ext>
            </a:extLst>
          </p:cNvPr>
          <p:cNvCxnSpPr>
            <a:cxnSpLocks/>
            <a:stCxn id="959" idx="3"/>
          </p:cNvCxnSpPr>
          <p:nvPr/>
        </p:nvCxnSpPr>
        <p:spPr>
          <a:xfrm flipH="1" flipV="1">
            <a:off x="11320753" y="5539105"/>
            <a:ext cx="686259" cy="948212"/>
          </a:xfrm>
          <a:prstGeom prst="bentConnector4">
            <a:avLst>
              <a:gd name="adj1" fmla="val -23441"/>
              <a:gd name="adj2" fmla="val 63296"/>
            </a:avLst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3DA5135-1D0C-00BD-8357-5A4A7339E704}"/>
              </a:ext>
            </a:extLst>
          </p:cNvPr>
          <p:cNvSpPr txBox="1"/>
          <p:nvPr/>
        </p:nvSpPr>
        <p:spPr>
          <a:xfrm>
            <a:off x="10701867" y="5583916"/>
            <a:ext cx="1709627" cy="3778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非二期范围内公司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坏账从</a:t>
            </a:r>
            <a:r>
              <a:rPr lang="en-US" altLang="zh-CN" sz="1000" b="1" dirty="0">
                <a:solidFill>
                  <a:srgbClr val="7030A0"/>
                </a:solidFill>
              </a:rPr>
              <a:t>1.0</a:t>
            </a:r>
            <a:r>
              <a:rPr lang="zh-CN" altLang="en-US" sz="1000" b="1" dirty="0">
                <a:solidFill>
                  <a:srgbClr val="7030A0"/>
                </a:solidFill>
              </a:rPr>
              <a:t>推送到财务中台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E272FE4-4686-F2FC-DE57-36B5E9021AB4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6620678" y="1563410"/>
            <a:ext cx="1212936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坏账计算基数调整表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2A70B89-3950-714A-D8B2-7CC0E0ED72D8}"/>
              </a:ext>
            </a:extLst>
          </p:cNvPr>
          <p:cNvCxnSpPr>
            <a:cxnSpLocks/>
            <a:stCxn id="48" idx="2"/>
            <a:endCxn id="907" idx="0"/>
          </p:cNvCxnSpPr>
          <p:nvPr/>
        </p:nvCxnSpPr>
        <p:spPr>
          <a:xfrm>
            <a:off x="7227146" y="1852378"/>
            <a:ext cx="0" cy="145275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95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30D6-9208-8307-BB1E-D96DF649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矩形 331">
            <a:extLst>
              <a:ext uri="{FF2B5EF4-FFF2-40B4-BE49-F238E27FC236}">
                <a16:creationId xmlns:a16="http://schemas.microsoft.com/office/drawing/2014/main" id="{994CFA86-B1A5-A3D9-68AA-5229CC4AF1C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97852" y="5982392"/>
            <a:ext cx="3709757" cy="649589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8517E44-D7EF-FD66-3F1A-3982BCD8D2E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012440" y="1301115"/>
            <a:ext cx="1999817" cy="4512125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E15D362-F4CD-0A10-12D9-B3874120BA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68393" y="1321332"/>
            <a:ext cx="4107377" cy="4491907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6DC023-432D-9AF4-8271-C3ABCFEBDB5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215414" y="1321332"/>
            <a:ext cx="1540985" cy="3214413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FB33FD7-851C-0FDB-1532-607F58D0A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8068" y="258234"/>
            <a:ext cx="4793826" cy="459877"/>
          </a:xfrm>
        </p:spPr>
        <p:txBody>
          <a:bodyPr/>
          <a:lstStyle/>
          <a:p>
            <a:r>
              <a:rPr lang="zh-CN" altLang="en-US" dirty="0"/>
              <a:t>应收模块业务及数据流</a:t>
            </a:r>
            <a:r>
              <a:rPr lang="en-US" altLang="zh-CN" dirty="0"/>
              <a:t>-</a:t>
            </a:r>
            <a:r>
              <a:rPr lang="zh-CN" altLang="en-US" dirty="0"/>
              <a:t>二期</a:t>
            </a:r>
          </a:p>
        </p:txBody>
      </p:sp>
      <p:sp>
        <p:nvSpPr>
          <p:cNvPr id="913" name="文本框 912">
            <a:extLst>
              <a:ext uri="{FF2B5EF4-FFF2-40B4-BE49-F238E27FC236}">
                <a16:creationId xmlns:a16="http://schemas.microsoft.com/office/drawing/2014/main" id="{6EB40619-9F85-5D72-95D0-75AF4D1E0DC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320753" y="10734180"/>
            <a:ext cx="678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B378B202-BC5D-B53F-01FC-B8C4B5AB765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628827" y="1321333"/>
            <a:ext cx="1487503" cy="4491907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2256D617-551D-F49C-2621-83DDFD73BD9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2740" y="1301115"/>
            <a:ext cx="1506892" cy="5330867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45C89DD5-2D07-1081-085E-5708B8E801D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012394" y="938596"/>
            <a:ext cx="1999883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数据湖仓</a:t>
            </a:r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24E22D8D-9CCA-4481-F60B-DF9D06A8EFD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1957" y="1107433"/>
            <a:ext cx="933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ODS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63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张）</a:t>
            </a: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69F78E00-91D1-FF6D-D286-DBADF36DE4D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10228" y="1101392"/>
            <a:ext cx="9163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DWD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张）</a:t>
            </a:r>
          </a:p>
        </p:txBody>
      </p:sp>
      <p:sp>
        <p:nvSpPr>
          <p:cNvPr id="288" name="文本框 287">
            <a:extLst>
              <a:ext uri="{FF2B5EF4-FFF2-40B4-BE49-F238E27FC236}">
                <a16:creationId xmlns:a16="http://schemas.microsoft.com/office/drawing/2014/main" id="{EAA0F834-4F17-486E-AD4A-E9EFE6F0C18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440044" y="1096636"/>
            <a:ext cx="21938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DWM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张数据集，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张前台表）</a:t>
            </a: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91DA2478-CBB4-6123-A662-A2090001BD2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451074" y="1101392"/>
            <a:ext cx="1925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DWS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张数据集，</a:t>
            </a:r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张前台表）</a:t>
            </a: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86E37D92-C090-311F-4DE9-485ABFD2300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381000" y="4139565"/>
            <a:ext cx="1337945" cy="476250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1DF1FC70-79D3-C5C5-6E83-190FC701C4F1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06425" y="4114800"/>
            <a:ext cx="876935" cy="136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政策系统</a:t>
            </a:r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C2A052A0-BFDF-9440-E953-1498CFE153F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06712" y="1307053"/>
            <a:ext cx="730667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9B330045-80CA-1135-486D-C44E2A99F365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383827" y="2449910"/>
            <a:ext cx="1088390" cy="31623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往来账龄明细表</a:t>
            </a:r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7A345646-AFF4-D7A1-D669-25E12AF48C9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90705" y="936856"/>
            <a:ext cx="1590314" cy="195792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数据源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AFC47183-6F3A-BE12-C592-933A4B886478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4140359" y="932373"/>
            <a:ext cx="7616040" cy="20027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管报平台</a:t>
            </a: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5" name="文本框 354">
            <a:extLst>
              <a:ext uri="{FF2B5EF4-FFF2-40B4-BE49-F238E27FC236}">
                <a16:creationId xmlns:a16="http://schemas.microsoft.com/office/drawing/2014/main" id="{C29C899A-F635-B905-8C9F-BA3364E46124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3126880" y="5793021"/>
            <a:ext cx="678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</a:p>
        </p:txBody>
      </p:sp>
      <p:sp>
        <p:nvSpPr>
          <p:cNvPr id="356" name="箭头: 上 178">
            <a:extLst>
              <a:ext uri="{FF2B5EF4-FFF2-40B4-BE49-F238E27FC236}">
                <a16:creationId xmlns:a16="http://schemas.microsoft.com/office/drawing/2014/main" id="{17B0BAE4-3484-5899-CAD5-6DB51B15570A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3081016" y="5793210"/>
            <a:ext cx="294957" cy="168590"/>
          </a:xfrm>
          <a:prstGeom prst="upArrow">
            <a:avLst/>
          </a:prstGeom>
          <a:solidFill>
            <a:srgbClr val="17A7A4"/>
          </a:solidFill>
          <a:ln w="25400" cap="flat">
            <a:noFill/>
            <a:prstDash val="solid"/>
            <a:round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050" dirty="0">
              <a:solidFill>
                <a:srgbClr val="FFFFFF"/>
              </a:solidFill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6" name="矩形 365">
            <a:extLst>
              <a:ext uri="{FF2B5EF4-FFF2-40B4-BE49-F238E27FC236}">
                <a16:creationId xmlns:a16="http://schemas.microsoft.com/office/drawing/2014/main" id="{1E821A00-F8F4-6407-ADB1-71E4F473DE4F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1957761" y="5982393"/>
            <a:ext cx="3454132" cy="649589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7" name="矩形 366">
            <a:extLst>
              <a:ext uri="{FF2B5EF4-FFF2-40B4-BE49-F238E27FC236}">
                <a16:creationId xmlns:a16="http://schemas.microsoft.com/office/drawing/2014/main" id="{5F8319E9-1EEB-AEA2-DD42-39CF9A9A1F5D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152189" y="6055836"/>
            <a:ext cx="928827" cy="20426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利润中心映射表</a:t>
            </a:r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3CDA7E2E-78DC-1C4E-2D1B-2312A271FEA8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152189" y="6334602"/>
            <a:ext cx="928827" cy="20427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业务范围映射表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D444DE-7811-0B89-4DA1-773AA979DFC5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86080" y="5149850"/>
            <a:ext cx="1318895" cy="389255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C19FAF-A19A-6349-6960-B7DE96895A3F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211617" y="5102037"/>
            <a:ext cx="1590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财务中台</a:t>
            </a:r>
            <a:r>
              <a:rPr lang="en-US" altLang="zh-CN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问题资金系统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C88F-88D4-2EDB-453C-D691539C9EBD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417724" y="5298588"/>
            <a:ext cx="1264884" cy="198812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超期额数据</a:t>
            </a:r>
            <a:endParaRPr 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AB45B7-CA4E-121A-627B-832ED5445D11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2362899" y="4836909"/>
            <a:ext cx="1088390" cy="26193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超期款明细表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67B287-F3B3-AE48-D659-D69855C6151A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372745" y="4690745"/>
            <a:ext cx="1318895" cy="389255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31F5CA-71ED-16B8-0EA0-71EC7A5ED18A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565413" y="4642932"/>
            <a:ext cx="876791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SMS</a:t>
            </a:r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9A7DA0-1CC6-A247-7120-E3E7DAF6F13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404389" y="4839483"/>
            <a:ext cx="1264884" cy="198812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返利余额汇总表</a:t>
            </a:r>
            <a:endParaRPr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CD82A3-0432-58A7-6D2E-C699106059E0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86080" y="4323080"/>
            <a:ext cx="1288415" cy="23812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已确认未兑现政策余额数据</a:t>
            </a:r>
            <a:endParaRPr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1A23613-2339-8EF8-90A8-B6694663179E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363047" y="2082078"/>
            <a:ext cx="1384987" cy="1403695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CBE8E1-F556-8BB4-F90F-27B7B6D8EC1A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441204" y="2136054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客户已清表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3BD8D1-BFDF-82D1-EF9C-DF3219C3470F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445649" y="2382434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客户未清表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99948F-5087-66B5-A502-63E3C54FED6D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441204" y="2651674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供应商已清表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5BA0EB1-991E-4A4A-6034-6749D721F50A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441204" y="2913294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供应商未清表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D604791-27F4-0A2F-3D9B-84A5B1CC30B1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56323" y="3581212"/>
            <a:ext cx="1318895" cy="438150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1936AC1-7CDC-5D26-E4E1-5A3BD9D61DC8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615031" y="3533399"/>
            <a:ext cx="876791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信汇平台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594A06-75D1-BC32-EA3F-4E30C6F1BCBB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388073" y="3729802"/>
            <a:ext cx="1279525" cy="25336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信汇明细表</a:t>
            </a:r>
            <a:endParaRPr 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D12239E-680F-5244-17D4-D5B708716FAE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26720" y="6163265"/>
            <a:ext cx="1264896" cy="28793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ODS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层表单&amp;规则库映射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1755680-91B7-8661-709F-02CD67C640FB}"/>
              </a:ext>
            </a:extLst>
          </p:cNvPr>
          <p:cNvCxnSpPr>
            <a:cxnSpLocks/>
            <a:endCxn id="321" idx="1"/>
          </p:cNvCxnSpPr>
          <p:nvPr/>
        </p:nvCxnSpPr>
        <p:spPr>
          <a:xfrm>
            <a:off x="1747958" y="2608025"/>
            <a:ext cx="635869" cy="0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1A746AFD-6120-65B1-ABAC-18E46FB8CC92}"/>
              </a:ext>
            </a:extLst>
          </p:cNvPr>
          <p:cNvCxnSpPr>
            <a:cxnSpLocks/>
            <a:stCxn id="34" idx="3"/>
            <a:endCxn id="321" idx="1"/>
          </p:cNvCxnSpPr>
          <p:nvPr/>
        </p:nvCxnSpPr>
        <p:spPr>
          <a:xfrm flipV="1">
            <a:off x="1667598" y="2608025"/>
            <a:ext cx="716229" cy="124846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A6D88D1-8D2B-65AC-4E9B-849B5542D6D0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10572723" y="1101392"/>
            <a:ext cx="7480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ADS</a:t>
            </a:r>
            <a:endParaRPr lang="zh-CN" altLang="en-US" sz="1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1D08D25-42F0-E5CE-8D64-573AD587A9F0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4527879" y="1794461"/>
            <a:ext cx="1358550" cy="1627891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5ED74B6-858F-4F4F-B675-BBE2A7F43990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4578442" y="1854012"/>
            <a:ext cx="1263555" cy="52613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往来账龄计算底稿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AW_MR9_ARPM01_000001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3F51DED-D4DA-64FD-788E-47E714A03185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2377828" y="4018331"/>
            <a:ext cx="1088390" cy="29279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已确认未兑现返利金额明细表</a:t>
            </a:r>
          </a:p>
        </p:txBody>
      </p:sp>
      <p:cxnSp>
        <p:nvCxnSpPr>
          <p:cNvPr id="43" name="肘形连接符 42">
            <a:extLst>
              <a:ext uri="{FF2B5EF4-FFF2-40B4-BE49-F238E27FC236}">
                <a16:creationId xmlns:a16="http://schemas.microsoft.com/office/drawing/2014/main" id="{309A6973-143F-F924-D869-05D91060E0D1}"/>
              </a:ext>
            </a:extLst>
          </p:cNvPr>
          <p:cNvCxnSpPr>
            <a:cxnSpLocks/>
            <a:stCxn id="21" idx="3"/>
            <a:endCxn id="321" idx="1"/>
          </p:cNvCxnSpPr>
          <p:nvPr userDrawn="1"/>
        </p:nvCxnSpPr>
        <p:spPr>
          <a:xfrm flipV="1">
            <a:off x="1748034" y="2608025"/>
            <a:ext cx="635793" cy="17590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46" name="肘形连接符 45">
            <a:extLst>
              <a:ext uri="{FF2B5EF4-FFF2-40B4-BE49-F238E27FC236}">
                <a16:creationId xmlns:a16="http://schemas.microsoft.com/office/drawing/2014/main" id="{60026CF4-16EC-6575-8018-E4D9F9776D4C}"/>
              </a:ext>
            </a:extLst>
          </p:cNvPr>
          <p:cNvCxnSpPr>
            <a:cxnSpLocks/>
            <a:stCxn id="2" idx="3"/>
            <a:endCxn id="9" idx="1"/>
          </p:cNvCxnSpPr>
          <p:nvPr userDrawn="1"/>
        </p:nvCxnSpPr>
        <p:spPr>
          <a:xfrm flipV="1">
            <a:off x="1704975" y="4967878"/>
            <a:ext cx="657924" cy="3766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AA1F8C7C-E0ED-D19D-D61E-656D9D435D6C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3375951" y="6055814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对方公司映射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06FEB73-E200-3A1C-C7CE-1D7218499BD8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3375951" y="6334602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渠道分组映射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7AE6EFF-F674-1CBC-8BF9-4E412BFD0FBD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4479824" y="6057686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重分类规则配置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DD60DBC-2DD9-3989-C8D7-AF18731AF0D4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4479823" y="6311872"/>
            <a:ext cx="829945" cy="295507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账龄计算日期配置</a:t>
            </a:r>
            <a:r>
              <a:rPr lang="en-US" altLang="zh-CN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账龄段配置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B71BDB3-48AC-08A5-907D-6129D7523440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5570516" y="6057081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税率维护表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2FC3C15-CBC2-1040-CC87-A0E39AB9B125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5570516" y="6335869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性质维护表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FEF5AC1-4B73-CF2E-00C2-5E6939D0C83D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363048" y="1513754"/>
            <a:ext cx="1374368" cy="484651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1290C4E-DA79-C480-6FDF-B70B46726AE5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430585" y="1567729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客户主数据</a:t>
            </a:r>
          </a:p>
        </p:txBody>
      </p:sp>
      <p:sp>
        <p:nvSpPr>
          <p:cNvPr id="896" name="矩形 895">
            <a:extLst>
              <a:ext uri="{FF2B5EF4-FFF2-40B4-BE49-F238E27FC236}">
                <a16:creationId xmlns:a16="http://schemas.microsoft.com/office/drawing/2014/main" id="{3B71872C-D8F8-000D-DABE-553C65F24C52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435030" y="1814109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客户账期</a:t>
            </a:r>
          </a:p>
        </p:txBody>
      </p:sp>
      <p:sp>
        <p:nvSpPr>
          <p:cNvPr id="897" name="矩形 896">
            <a:extLst>
              <a:ext uri="{FF2B5EF4-FFF2-40B4-BE49-F238E27FC236}">
                <a16:creationId xmlns:a16="http://schemas.microsoft.com/office/drawing/2014/main" id="{BE1BB7C7-2A49-8F03-E1F2-B1379A223567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2362899" y="1595079"/>
            <a:ext cx="1088390" cy="31623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客户账期明细表</a:t>
            </a:r>
          </a:p>
        </p:txBody>
      </p:sp>
      <p:cxnSp>
        <p:nvCxnSpPr>
          <p:cNvPr id="898" name="直接箭头连接符 897">
            <a:extLst>
              <a:ext uri="{FF2B5EF4-FFF2-40B4-BE49-F238E27FC236}">
                <a16:creationId xmlns:a16="http://schemas.microsoft.com/office/drawing/2014/main" id="{1EAAA025-B119-D47A-39C9-C274B813D773}"/>
              </a:ext>
            </a:extLst>
          </p:cNvPr>
          <p:cNvCxnSpPr>
            <a:cxnSpLocks/>
            <a:stCxn id="53" idx="3"/>
            <a:endCxn id="897" idx="1"/>
          </p:cNvCxnSpPr>
          <p:nvPr/>
        </p:nvCxnSpPr>
        <p:spPr>
          <a:xfrm flipV="1">
            <a:off x="1737416" y="1753194"/>
            <a:ext cx="625483" cy="2886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18D3B1DD-7A21-059E-0554-711BF1591774}"/>
              </a:ext>
            </a:extLst>
          </p:cNvPr>
          <p:cNvCxnSpPr>
            <a:cxnSpLocks/>
            <a:stCxn id="21" idx="3"/>
            <a:endCxn id="64" idx="1"/>
          </p:cNvCxnSpPr>
          <p:nvPr/>
        </p:nvCxnSpPr>
        <p:spPr>
          <a:xfrm>
            <a:off x="1748034" y="2783926"/>
            <a:ext cx="629794" cy="138080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0A97A4E-D822-BF4C-8590-B881E83EE6D6}"/>
              </a:ext>
            </a:extLst>
          </p:cNvPr>
          <p:cNvCxnSpPr>
            <a:cxnSpLocks/>
            <a:stCxn id="308" idx="3"/>
            <a:endCxn id="64" idx="1"/>
          </p:cNvCxnSpPr>
          <p:nvPr/>
        </p:nvCxnSpPr>
        <p:spPr>
          <a:xfrm flipV="1">
            <a:off x="1718945" y="4164729"/>
            <a:ext cx="658883" cy="21296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B8DAB974-1E9E-9EED-7053-729023A8DEF2}"/>
              </a:ext>
            </a:extLst>
          </p:cNvPr>
          <p:cNvCxnSpPr>
            <a:cxnSpLocks/>
            <a:stCxn id="16" idx="3"/>
            <a:endCxn id="64" idx="1"/>
          </p:cNvCxnSpPr>
          <p:nvPr/>
        </p:nvCxnSpPr>
        <p:spPr>
          <a:xfrm flipV="1">
            <a:off x="1691640" y="4164729"/>
            <a:ext cx="686188" cy="72064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08" name="矩形 907">
            <a:extLst>
              <a:ext uri="{FF2B5EF4-FFF2-40B4-BE49-F238E27FC236}">
                <a16:creationId xmlns:a16="http://schemas.microsoft.com/office/drawing/2014/main" id="{30BF6900-1E63-211A-DC66-E6509B7B1166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6520179" y="1507120"/>
            <a:ext cx="1464734" cy="2349365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7" name="矩形 906">
            <a:extLst>
              <a:ext uri="{FF2B5EF4-FFF2-40B4-BE49-F238E27FC236}">
                <a16:creationId xmlns:a16="http://schemas.microsoft.com/office/drawing/2014/main" id="{29288C67-CD5B-0E0D-9A41-AC972498C37F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6620678" y="1997653"/>
            <a:ext cx="1212936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坏账计算基数明细表</a:t>
            </a:r>
          </a:p>
        </p:txBody>
      </p:sp>
      <p:sp>
        <p:nvSpPr>
          <p:cNvPr id="909" name="矩形 908">
            <a:extLst>
              <a:ext uri="{FF2B5EF4-FFF2-40B4-BE49-F238E27FC236}">
                <a16:creationId xmlns:a16="http://schemas.microsoft.com/office/drawing/2014/main" id="{6FF88051-CCF4-84D1-CB7F-ACD80FB4C1F1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6570742" y="3287860"/>
            <a:ext cx="1307987" cy="5588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坏账计算表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管理口径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AW_MR9_ARPM02_000002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8" name="矩形 937">
            <a:extLst>
              <a:ext uri="{FF2B5EF4-FFF2-40B4-BE49-F238E27FC236}">
                <a16:creationId xmlns:a16="http://schemas.microsoft.com/office/drawing/2014/main" id="{60794BE6-188E-03AA-638D-4992AE2E5456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4539679" y="3521398"/>
            <a:ext cx="1358550" cy="1409897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4" name="连接符: 肘形 913">
            <a:extLst>
              <a:ext uri="{FF2B5EF4-FFF2-40B4-BE49-F238E27FC236}">
                <a16:creationId xmlns:a16="http://schemas.microsoft.com/office/drawing/2014/main" id="{3611B52C-258F-EBCF-910A-73E26B1D3ACC}"/>
              </a:ext>
            </a:extLst>
          </p:cNvPr>
          <p:cNvCxnSpPr>
            <a:cxnSpLocks/>
            <a:stCxn id="897" idx="3"/>
            <a:endCxn id="30" idx="1"/>
          </p:cNvCxnSpPr>
          <p:nvPr/>
        </p:nvCxnSpPr>
        <p:spPr>
          <a:xfrm>
            <a:off x="3451289" y="1753194"/>
            <a:ext cx="1076590" cy="855213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16" name="连接符: 肘形 915">
            <a:extLst>
              <a:ext uri="{FF2B5EF4-FFF2-40B4-BE49-F238E27FC236}">
                <a16:creationId xmlns:a16="http://schemas.microsoft.com/office/drawing/2014/main" id="{F2F1812E-D5B6-9E34-6784-546F10848CA6}"/>
              </a:ext>
            </a:extLst>
          </p:cNvPr>
          <p:cNvCxnSpPr>
            <a:cxnSpLocks/>
            <a:stCxn id="321" idx="3"/>
            <a:endCxn id="30" idx="1"/>
          </p:cNvCxnSpPr>
          <p:nvPr/>
        </p:nvCxnSpPr>
        <p:spPr>
          <a:xfrm>
            <a:off x="3472217" y="2608025"/>
            <a:ext cx="1055662" cy="382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18" name="连接符: 肘形 917">
            <a:extLst>
              <a:ext uri="{FF2B5EF4-FFF2-40B4-BE49-F238E27FC236}">
                <a16:creationId xmlns:a16="http://schemas.microsoft.com/office/drawing/2014/main" id="{DFEA0F4C-DD27-AC75-7F8A-3788897A8E0E}"/>
              </a:ext>
            </a:extLst>
          </p:cNvPr>
          <p:cNvCxnSpPr>
            <a:cxnSpLocks/>
            <a:stCxn id="30" idx="2"/>
            <a:endCxn id="910" idx="0"/>
          </p:cNvCxnSpPr>
          <p:nvPr/>
        </p:nvCxnSpPr>
        <p:spPr>
          <a:xfrm rot="16200000" flipH="1">
            <a:off x="5073356" y="3556149"/>
            <a:ext cx="271510" cy="3915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20" name="连接符: 肘形 919">
            <a:extLst>
              <a:ext uri="{FF2B5EF4-FFF2-40B4-BE49-F238E27FC236}">
                <a16:creationId xmlns:a16="http://schemas.microsoft.com/office/drawing/2014/main" id="{744262BF-8868-EA30-5409-B0EA49EE0E63}"/>
              </a:ext>
            </a:extLst>
          </p:cNvPr>
          <p:cNvCxnSpPr>
            <a:cxnSpLocks/>
            <a:stCxn id="321" idx="3"/>
            <a:endCxn id="910" idx="1"/>
          </p:cNvCxnSpPr>
          <p:nvPr/>
        </p:nvCxnSpPr>
        <p:spPr>
          <a:xfrm>
            <a:off x="3472217" y="2608025"/>
            <a:ext cx="1107074" cy="13573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25" name="连接符: 肘形 924">
            <a:extLst>
              <a:ext uri="{FF2B5EF4-FFF2-40B4-BE49-F238E27FC236}">
                <a16:creationId xmlns:a16="http://schemas.microsoft.com/office/drawing/2014/main" id="{1F322CF4-D34B-A272-9964-1BBAE5B28C49}"/>
              </a:ext>
            </a:extLst>
          </p:cNvPr>
          <p:cNvCxnSpPr>
            <a:cxnSpLocks/>
            <a:stCxn id="321" idx="3"/>
            <a:endCxn id="71" idx="1"/>
          </p:cNvCxnSpPr>
          <p:nvPr/>
        </p:nvCxnSpPr>
        <p:spPr>
          <a:xfrm flipV="1">
            <a:off x="3472217" y="2117082"/>
            <a:ext cx="1106225" cy="490943"/>
          </a:xfrm>
          <a:prstGeom prst="bentConnector3">
            <a:avLst>
              <a:gd name="adj1" fmla="val 74622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28" name="连接符: 肘形 927">
            <a:extLst>
              <a:ext uri="{FF2B5EF4-FFF2-40B4-BE49-F238E27FC236}">
                <a16:creationId xmlns:a16="http://schemas.microsoft.com/office/drawing/2014/main" id="{8CA095D0-EE51-5683-AEEE-74FED2B11E3C}"/>
              </a:ext>
            </a:extLst>
          </p:cNvPr>
          <p:cNvCxnSpPr>
            <a:cxnSpLocks/>
            <a:stCxn id="64" idx="3"/>
            <a:endCxn id="30" idx="1"/>
          </p:cNvCxnSpPr>
          <p:nvPr/>
        </p:nvCxnSpPr>
        <p:spPr>
          <a:xfrm flipV="1">
            <a:off x="3466218" y="2608407"/>
            <a:ext cx="1061661" cy="1556322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31" name="连接符: 肘形 930">
            <a:extLst>
              <a:ext uri="{FF2B5EF4-FFF2-40B4-BE49-F238E27FC236}">
                <a16:creationId xmlns:a16="http://schemas.microsoft.com/office/drawing/2014/main" id="{A0FCA5C6-7231-29D0-F399-DAAECEDE123D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3451289" y="2608407"/>
            <a:ext cx="1076590" cy="2359471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34" name="连接符: 肘形 933">
            <a:extLst>
              <a:ext uri="{FF2B5EF4-FFF2-40B4-BE49-F238E27FC236}">
                <a16:creationId xmlns:a16="http://schemas.microsoft.com/office/drawing/2014/main" id="{4013976A-F799-E9F6-443A-F0731A679644}"/>
              </a:ext>
            </a:extLst>
          </p:cNvPr>
          <p:cNvCxnSpPr>
            <a:cxnSpLocks/>
            <a:stCxn id="30" idx="3"/>
            <a:endCxn id="907" idx="1"/>
          </p:cNvCxnSpPr>
          <p:nvPr/>
        </p:nvCxnSpPr>
        <p:spPr>
          <a:xfrm flipV="1">
            <a:off x="5886429" y="2142137"/>
            <a:ext cx="734249" cy="466270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36" name="连接符: 肘形 935">
            <a:extLst>
              <a:ext uri="{FF2B5EF4-FFF2-40B4-BE49-F238E27FC236}">
                <a16:creationId xmlns:a16="http://schemas.microsoft.com/office/drawing/2014/main" id="{1325C043-E4BA-C7F2-1DDA-1A7ED787C64B}"/>
              </a:ext>
            </a:extLst>
          </p:cNvPr>
          <p:cNvCxnSpPr>
            <a:cxnSpLocks/>
            <a:stCxn id="907" idx="2"/>
            <a:endCxn id="956" idx="0"/>
          </p:cNvCxnSpPr>
          <p:nvPr/>
        </p:nvCxnSpPr>
        <p:spPr>
          <a:xfrm rot="5400000">
            <a:off x="7117002" y="2394355"/>
            <a:ext cx="217879" cy="2410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10" name="矩形 909">
            <a:extLst>
              <a:ext uri="{FF2B5EF4-FFF2-40B4-BE49-F238E27FC236}">
                <a16:creationId xmlns:a16="http://schemas.microsoft.com/office/drawing/2014/main" id="{82440F60-7304-254C-71F1-5F80E9671216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4579291" y="3693862"/>
            <a:ext cx="1263555" cy="54301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占用明细表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AW_MR9_ARPM03_000001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1" name="矩形 910">
            <a:extLst>
              <a:ext uri="{FF2B5EF4-FFF2-40B4-BE49-F238E27FC236}">
                <a16:creationId xmlns:a16="http://schemas.microsoft.com/office/drawing/2014/main" id="{824A7B83-48E5-D90D-8B1A-3BCBDB1938A5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4579291" y="4384629"/>
            <a:ext cx="1263555" cy="49241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收入明细表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AW_MR9_ARPM03_000002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1" name="连接符: 肘形 940">
            <a:extLst>
              <a:ext uri="{FF2B5EF4-FFF2-40B4-BE49-F238E27FC236}">
                <a16:creationId xmlns:a16="http://schemas.microsoft.com/office/drawing/2014/main" id="{E1ED065D-276C-9EC3-A20E-D9BFFD8F88E4}"/>
              </a:ext>
            </a:extLst>
          </p:cNvPr>
          <p:cNvCxnSpPr>
            <a:cxnSpLocks/>
            <a:stCxn id="910" idx="3"/>
            <a:endCxn id="939" idx="1"/>
          </p:cNvCxnSpPr>
          <p:nvPr/>
        </p:nvCxnSpPr>
        <p:spPr>
          <a:xfrm flipV="1">
            <a:off x="5842846" y="3914384"/>
            <a:ext cx="2894883" cy="5098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43" name="连接符: 肘形 942">
            <a:extLst>
              <a:ext uri="{FF2B5EF4-FFF2-40B4-BE49-F238E27FC236}">
                <a16:creationId xmlns:a16="http://schemas.microsoft.com/office/drawing/2014/main" id="{3D12FBDF-F55E-B1CD-E0CC-142026567737}"/>
              </a:ext>
            </a:extLst>
          </p:cNvPr>
          <p:cNvCxnSpPr>
            <a:cxnSpLocks/>
            <a:stCxn id="911" idx="3"/>
            <a:endCxn id="939" idx="1"/>
          </p:cNvCxnSpPr>
          <p:nvPr/>
        </p:nvCxnSpPr>
        <p:spPr>
          <a:xfrm flipV="1">
            <a:off x="5842846" y="3914384"/>
            <a:ext cx="2894883" cy="71645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44" name="矩形 943">
            <a:extLst>
              <a:ext uri="{FF2B5EF4-FFF2-40B4-BE49-F238E27FC236}">
                <a16:creationId xmlns:a16="http://schemas.microsoft.com/office/drawing/2014/main" id="{86D2CA1C-D466-93CE-46D7-EE0A82332949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4539679" y="5137030"/>
            <a:ext cx="1358550" cy="448358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5" name="矩形 944">
            <a:extLst>
              <a:ext uri="{FF2B5EF4-FFF2-40B4-BE49-F238E27FC236}">
                <a16:creationId xmlns:a16="http://schemas.microsoft.com/office/drawing/2014/main" id="{D26A6F96-6156-5CBF-7BF4-EF47D4876C78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4579291" y="5225295"/>
            <a:ext cx="1263555" cy="317347"/>
          </a:xfrm>
          <a:prstGeom prst="rect">
            <a:avLst/>
          </a:prstGeom>
          <a:solidFill>
            <a:srgbClr val="2D7D7F"/>
          </a:solidFill>
          <a:ln w="12700" cap="flat" cmpd="sng" algn="ctr">
            <a:solidFill>
              <a:srgbClr val="F2F2F2"/>
            </a:solidFill>
            <a:prstDash val="lg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单体销售明细表（一期）</a:t>
            </a:r>
          </a:p>
        </p:txBody>
      </p:sp>
      <p:cxnSp>
        <p:nvCxnSpPr>
          <p:cNvPr id="947" name="连接符: 肘形 946">
            <a:extLst>
              <a:ext uri="{FF2B5EF4-FFF2-40B4-BE49-F238E27FC236}">
                <a16:creationId xmlns:a16="http://schemas.microsoft.com/office/drawing/2014/main" id="{9AE7F586-AFCA-32E0-3FFA-DD7CE0179E02}"/>
              </a:ext>
            </a:extLst>
          </p:cNvPr>
          <p:cNvCxnSpPr>
            <a:cxnSpLocks/>
            <a:stCxn id="944" idx="0"/>
            <a:endCxn id="911" idx="2"/>
          </p:cNvCxnSpPr>
          <p:nvPr/>
        </p:nvCxnSpPr>
        <p:spPr>
          <a:xfrm rot="16200000" flipV="1">
            <a:off x="5085017" y="5003092"/>
            <a:ext cx="259991" cy="7885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57" name="矩形 956">
            <a:extLst>
              <a:ext uri="{FF2B5EF4-FFF2-40B4-BE49-F238E27FC236}">
                <a16:creationId xmlns:a16="http://schemas.microsoft.com/office/drawing/2014/main" id="{1E21DA91-5197-915D-5708-A3B2596B9CF5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10633684" y="5955676"/>
            <a:ext cx="1434288" cy="20027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管报平台</a:t>
            </a:r>
            <a:r>
              <a:rPr lang="en-US" altLang="zh-CN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9" name="矩形 958">
            <a:extLst>
              <a:ext uri="{FF2B5EF4-FFF2-40B4-BE49-F238E27FC236}">
                <a16:creationId xmlns:a16="http://schemas.microsoft.com/office/drawing/2014/main" id="{68EF4615-9EE3-7806-3E68-51ED6A7EC28D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10647518" y="6235167"/>
            <a:ext cx="1359494" cy="504300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EEFB6BE-2E38-C299-CA43-E90335EA6186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10829563" y="6335205"/>
            <a:ext cx="994568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账龄明细表</a:t>
            </a:r>
          </a:p>
        </p:txBody>
      </p: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2E5F0398-7DFB-60CC-299A-F9E100D96723}"/>
              </a:ext>
            </a:extLst>
          </p:cNvPr>
          <p:cNvCxnSpPr>
            <a:cxnSpLocks/>
            <a:stCxn id="30" idx="3"/>
            <a:endCxn id="100" idx="0"/>
          </p:cNvCxnSpPr>
          <p:nvPr/>
        </p:nvCxnSpPr>
        <p:spPr>
          <a:xfrm flipV="1">
            <a:off x="5886429" y="1415568"/>
            <a:ext cx="3460578" cy="1192839"/>
          </a:xfrm>
          <a:prstGeom prst="bentConnector4">
            <a:avLst>
              <a:gd name="adj1" fmla="val 40894"/>
              <a:gd name="adj2" fmla="val 119164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333" name="矩形 332">
            <a:extLst>
              <a:ext uri="{FF2B5EF4-FFF2-40B4-BE49-F238E27FC236}">
                <a16:creationId xmlns:a16="http://schemas.microsoft.com/office/drawing/2014/main" id="{C79E9FA8-F748-68A1-007E-45786342EFBE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6514464" y="6055814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坏账计提配置</a:t>
            </a:r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9F0A9151-989C-95BF-2783-49E33C92E07E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6499629" y="6334602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主分户配置表</a:t>
            </a:r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EF57C465-083D-84E8-BAB2-87AE02995060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8321826" y="6166939"/>
            <a:ext cx="829945" cy="2222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周转指标配置</a:t>
            </a:r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21FD5547-4160-8719-73C1-536125FF5FCB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6360050" y="5792852"/>
            <a:ext cx="678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</a:p>
        </p:txBody>
      </p:sp>
      <p:sp>
        <p:nvSpPr>
          <p:cNvPr id="338" name="箭头: 上 178">
            <a:extLst>
              <a:ext uri="{FF2B5EF4-FFF2-40B4-BE49-F238E27FC236}">
                <a16:creationId xmlns:a16="http://schemas.microsoft.com/office/drawing/2014/main" id="{ED2DDA64-5094-AB2D-31D3-82578F0B757E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6314186" y="5793041"/>
            <a:ext cx="294957" cy="168590"/>
          </a:xfrm>
          <a:prstGeom prst="upArrow">
            <a:avLst/>
          </a:prstGeom>
          <a:solidFill>
            <a:srgbClr val="17A7A4"/>
          </a:solidFill>
          <a:ln w="25400" cap="flat">
            <a:noFill/>
            <a:prstDash val="solid"/>
            <a:round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050" dirty="0">
              <a:solidFill>
                <a:srgbClr val="FFFFFF"/>
              </a:solidFill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EADCFAF9-31B7-659D-97CC-FD09B9FDAB79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6250291" y="5280963"/>
            <a:ext cx="1526440" cy="476986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AF9A9763-3A18-D3F0-061E-15DF3E7404DA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6388510" y="5378918"/>
            <a:ext cx="1263555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应收占用手工补录表</a:t>
            </a:r>
          </a:p>
        </p:txBody>
      </p:sp>
      <p:cxnSp>
        <p:nvCxnSpPr>
          <p:cNvPr id="344" name="连接符: 肘形 343">
            <a:extLst>
              <a:ext uri="{FF2B5EF4-FFF2-40B4-BE49-F238E27FC236}">
                <a16:creationId xmlns:a16="http://schemas.microsoft.com/office/drawing/2014/main" id="{C193B67C-1F4A-9392-C4B7-7930E702A1F2}"/>
              </a:ext>
            </a:extLst>
          </p:cNvPr>
          <p:cNvCxnSpPr>
            <a:cxnSpLocks/>
            <a:stCxn id="342" idx="0"/>
            <a:endCxn id="910" idx="3"/>
          </p:cNvCxnSpPr>
          <p:nvPr/>
        </p:nvCxnSpPr>
        <p:spPr>
          <a:xfrm rot="16200000" flipV="1">
            <a:off x="5770384" y="4037835"/>
            <a:ext cx="1315591" cy="1170665"/>
          </a:xfrm>
          <a:prstGeom prst="bentConnector2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7494C5F-D509-AACE-63B1-C6C30FF03EA2}"/>
              </a:ext>
            </a:extLst>
          </p:cNvPr>
          <p:cNvSpPr txBox="1"/>
          <p:nvPr/>
        </p:nvSpPr>
        <p:spPr>
          <a:xfrm>
            <a:off x="2654545" y="2071763"/>
            <a:ext cx="1170729" cy="4039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维度映射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往来账龄计算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D01666C-7C3E-D323-8E2C-67B5BAD67648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4585889" y="3086391"/>
            <a:ext cx="1263555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往来账龄调整表</a:t>
            </a:r>
          </a:p>
        </p:txBody>
      </p:sp>
      <p:sp>
        <p:nvSpPr>
          <p:cNvPr id="929" name="矩形 928">
            <a:extLst>
              <a:ext uri="{FF2B5EF4-FFF2-40B4-BE49-F238E27FC236}">
                <a16:creationId xmlns:a16="http://schemas.microsoft.com/office/drawing/2014/main" id="{F80DEA9A-CFAD-4F89-0EAC-BD0E21DAF49A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394797" y="5634598"/>
            <a:ext cx="1318895" cy="389255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0" name="文本框 929">
            <a:extLst>
              <a:ext uri="{FF2B5EF4-FFF2-40B4-BE49-F238E27FC236}">
                <a16:creationId xmlns:a16="http://schemas.microsoft.com/office/drawing/2014/main" id="{E5C10FF0-DBEF-A4E0-A5F6-F5CB1F735CAE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612865" y="5586785"/>
            <a:ext cx="876791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信数系统</a:t>
            </a:r>
          </a:p>
        </p:txBody>
      </p:sp>
      <p:sp>
        <p:nvSpPr>
          <p:cNvPr id="932" name="矩形 931">
            <a:extLst>
              <a:ext uri="{FF2B5EF4-FFF2-40B4-BE49-F238E27FC236}">
                <a16:creationId xmlns:a16="http://schemas.microsoft.com/office/drawing/2014/main" id="{62580162-61C2-4DA9-1F43-E77C66CAB416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426441" y="5783336"/>
            <a:ext cx="1264884" cy="198812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国际营销应收占用数</a:t>
            </a:r>
            <a:endParaRPr 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7" name="矩形 936">
            <a:extLst>
              <a:ext uri="{FF2B5EF4-FFF2-40B4-BE49-F238E27FC236}">
                <a16:creationId xmlns:a16="http://schemas.microsoft.com/office/drawing/2014/main" id="{4C7762FB-3B20-83CA-8567-9ED143A3F690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2362899" y="5462517"/>
            <a:ext cx="1088390" cy="31650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国际营销应收占用明细表</a:t>
            </a:r>
          </a:p>
        </p:txBody>
      </p:sp>
      <p:cxnSp>
        <p:nvCxnSpPr>
          <p:cNvPr id="940" name="肘形连接符 45">
            <a:extLst>
              <a:ext uri="{FF2B5EF4-FFF2-40B4-BE49-F238E27FC236}">
                <a16:creationId xmlns:a16="http://schemas.microsoft.com/office/drawing/2014/main" id="{7E9B3189-744F-1B06-9009-1DC9A4541FCC}"/>
              </a:ext>
            </a:extLst>
          </p:cNvPr>
          <p:cNvCxnSpPr>
            <a:cxnSpLocks/>
            <a:stCxn id="932" idx="3"/>
            <a:endCxn id="937" idx="1"/>
          </p:cNvCxnSpPr>
          <p:nvPr/>
        </p:nvCxnSpPr>
        <p:spPr>
          <a:xfrm flipV="1">
            <a:off x="1691325" y="5620772"/>
            <a:ext cx="671574" cy="261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948" name="连接符: 肘形 947">
            <a:extLst>
              <a:ext uri="{FF2B5EF4-FFF2-40B4-BE49-F238E27FC236}">
                <a16:creationId xmlns:a16="http://schemas.microsoft.com/office/drawing/2014/main" id="{D74017B9-CD9C-1674-615F-D7CAD247A926}"/>
              </a:ext>
            </a:extLst>
          </p:cNvPr>
          <p:cNvCxnSpPr>
            <a:cxnSpLocks/>
            <a:stCxn id="937" idx="3"/>
            <a:endCxn id="910" idx="1"/>
          </p:cNvCxnSpPr>
          <p:nvPr/>
        </p:nvCxnSpPr>
        <p:spPr>
          <a:xfrm flipV="1">
            <a:off x="3451289" y="3965372"/>
            <a:ext cx="1128002" cy="1655400"/>
          </a:xfrm>
          <a:prstGeom prst="bentConnector3">
            <a:avLst>
              <a:gd name="adj1" fmla="val 6219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39" name="矩形 938">
            <a:extLst>
              <a:ext uri="{FF2B5EF4-FFF2-40B4-BE49-F238E27FC236}">
                <a16:creationId xmlns:a16="http://schemas.microsoft.com/office/drawing/2014/main" id="{4082D071-9DF6-894B-09E7-7373E2562769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8737729" y="3645705"/>
            <a:ext cx="1269698" cy="537357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应收周转明细表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（客户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利润中心）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AW_MR8_ARPS03_000001</a:t>
            </a: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AE0C9977-12FD-B4B4-5C33-A4EFFF8A744C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8672472" y="4446703"/>
            <a:ext cx="1408770" cy="1183184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5" name="矩形 914">
            <a:extLst>
              <a:ext uri="{FF2B5EF4-FFF2-40B4-BE49-F238E27FC236}">
                <a16:creationId xmlns:a16="http://schemas.microsoft.com/office/drawing/2014/main" id="{5972CC6A-34DF-1EC8-9738-F869438C1FB7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8751740" y="2949940"/>
            <a:ext cx="1245844" cy="47906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应收周转分析明细表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</a:p>
        </p:txBody>
      </p:sp>
      <p:cxnSp>
        <p:nvCxnSpPr>
          <p:cNvPr id="922" name="直接箭头连接符 921">
            <a:extLst>
              <a:ext uri="{FF2B5EF4-FFF2-40B4-BE49-F238E27FC236}">
                <a16:creationId xmlns:a16="http://schemas.microsoft.com/office/drawing/2014/main" id="{4B676FAE-E655-DF23-BBE6-713869479A66}"/>
              </a:ext>
            </a:extLst>
          </p:cNvPr>
          <p:cNvCxnSpPr>
            <a:cxnSpLocks/>
            <a:stCxn id="939" idx="0"/>
            <a:endCxn id="915" idx="2"/>
          </p:cNvCxnSpPr>
          <p:nvPr/>
        </p:nvCxnSpPr>
        <p:spPr>
          <a:xfrm flipV="1">
            <a:off x="9372578" y="3429000"/>
            <a:ext cx="2084" cy="216705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A02F8E6E-59DA-5CDF-5E85-9EB40C8A3A7E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10443966" y="3716429"/>
            <a:ext cx="1127895" cy="38910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指标表（应收周转）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8FF59167-F365-316B-091B-DCCFCD2802B3}"/>
              </a:ext>
            </a:extLst>
          </p:cNvPr>
          <p:cNvCxnSpPr>
            <a:cxnSpLocks/>
            <a:stCxn id="939" idx="2"/>
            <a:endCxn id="271" idx="0"/>
          </p:cNvCxnSpPr>
          <p:nvPr/>
        </p:nvCxnSpPr>
        <p:spPr>
          <a:xfrm>
            <a:off x="9372578" y="4183062"/>
            <a:ext cx="4279" cy="263641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265" name="直接箭头连接符 264">
            <a:extLst>
              <a:ext uri="{FF2B5EF4-FFF2-40B4-BE49-F238E27FC236}">
                <a16:creationId xmlns:a16="http://schemas.microsoft.com/office/drawing/2014/main" id="{B80736DB-1E2A-7E4B-32E6-467A46585C11}"/>
              </a:ext>
            </a:extLst>
          </p:cNvPr>
          <p:cNvCxnSpPr>
            <a:cxnSpLocks/>
            <a:stCxn id="939" idx="3"/>
            <a:endCxn id="65" idx="1"/>
          </p:cNvCxnSpPr>
          <p:nvPr/>
        </p:nvCxnSpPr>
        <p:spPr>
          <a:xfrm flipV="1">
            <a:off x="10007427" y="3910982"/>
            <a:ext cx="436539" cy="3402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270" name="矩形 269">
            <a:extLst>
              <a:ext uri="{FF2B5EF4-FFF2-40B4-BE49-F238E27FC236}">
                <a16:creationId xmlns:a16="http://schemas.microsoft.com/office/drawing/2014/main" id="{6E098343-F340-1ECB-CCEE-EB0C0B0E25C6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8726329" y="5074239"/>
            <a:ext cx="1292498" cy="416196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应收周转分析表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AW_MR8_ARPS03_000003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FC7F3E9-E58E-BD12-2BBE-408E7565E484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8726145" y="4535745"/>
            <a:ext cx="1292498" cy="43622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应收周转分析表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AW_MR8_ARPS03_000002</a:t>
            </a: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E19AFE6E-8ABA-EBDE-1333-7FA43587EB86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8646018" y="5810211"/>
            <a:ext cx="6781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</a:p>
        </p:txBody>
      </p:sp>
      <p:sp>
        <p:nvSpPr>
          <p:cNvPr id="275" name="箭头: 上 178">
            <a:extLst>
              <a:ext uri="{FF2B5EF4-FFF2-40B4-BE49-F238E27FC236}">
                <a16:creationId xmlns:a16="http://schemas.microsoft.com/office/drawing/2014/main" id="{8C4BB706-13C6-92C6-3BE3-CA76060C2D6F}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8600154" y="5810400"/>
            <a:ext cx="294957" cy="168590"/>
          </a:xfrm>
          <a:prstGeom prst="upArrow">
            <a:avLst/>
          </a:prstGeom>
          <a:solidFill>
            <a:srgbClr val="17A7A4"/>
          </a:solidFill>
          <a:ln w="25400" cap="flat">
            <a:noFill/>
            <a:prstDash val="solid"/>
            <a:round/>
          </a:ln>
          <a:effectLst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050" dirty="0">
              <a:solidFill>
                <a:srgbClr val="FFFFFF"/>
              </a:solidFill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D2D9057F-495D-6BFA-E40F-5A7F3219BC24}"/>
              </a:ext>
            </a:extLst>
          </p:cNvPr>
          <p:cNvSpPr txBox="1"/>
          <p:nvPr/>
        </p:nvSpPr>
        <p:spPr>
          <a:xfrm>
            <a:off x="2341611" y="3669914"/>
            <a:ext cx="1584984" cy="3547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 dirty="0">
                <a:solidFill>
                  <a:srgbClr val="7030A0"/>
                </a:solidFill>
              </a:rPr>
              <a:t>SAP</a:t>
            </a:r>
            <a:r>
              <a:rPr lang="zh-CN" altLang="en-US" sz="1000" b="1" dirty="0">
                <a:solidFill>
                  <a:srgbClr val="7030A0"/>
                </a:solidFill>
              </a:rPr>
              <a:t>行项目</a:t>
            </a:r>
            <a:r>
              <a:rPr lang="en-US" altLang="zh-CN" sz="1000" b="1" dirty="0">
                <a:solidFill>
                  <a:srgbClr val="7030A0"/>
                </a:solidFill>
              </a:rPr>
              <a:t>+</a:t>
            </a:r>
            <a:r>
              <a:rPr lang="zh-CN" altLang="en-US" sz="1000" b="1" dirty="0">
                <a:solidFill>
                  <a:srgbClr val="7030A0"/>
                </a:solidFill>
              </a:rPr>
              <a:t>政策系统期末欠付</a:t>
            </a:r>
            <a:r>
              <a:rPr lang="en-US" altLang="zh-CN" sz="1000" b="1" dirty="0">
                <a:solidFill>
                  <a:srgbClr val="7030A0"/>
                </a:solidFill>
              </a:rPr>
              <a:t>+SMS</a:t>
            </a:r>
            <a:r>
              <a:rPr lang="zh-CN" altLang="en-US" sz="1000" b="1" dirty="0">
                <a:solidFill>
                  <a:srgbClr val="7030A0"/>
                </a:solidFill>
              </a:rPr>
              <a:t>返利余额</a:t>
            </a:r>
            <a:endParaRPr lang="en-US" altLang="zh-CN" sz="1000" b="1" dirty="0">
              <a:solidFill>
                <a:srgbClr val="7030A0"/>
              </a:solidFill>
            </a:endParaRP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5317E070-F03A-8F27-F63C-B4E1E2A7423E}"/>
              </a:ext>
            </a:extLst>
          </p:cNvPr>
          <p:cNvSpPr txBox="1"/>
          <p:nvPr/>
        </p:nvSpPr>
        <p:spPr>
          <a:xfrm>
            <a:off x="2362899" y="4470806"/>
            <a:ext cx="1683862" cy="3547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问题资金系统各公司超期款及开票样机明细数据</a:t>
            </a:r>
            <a:endParaRPr lang="en-US" altLang="zh-CN" sz="1000" b="1" dirty="0">
              <a:solidFill>
                <a:srgbClr val="7030A0"/>
              </a:solidFill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B985063F-F3C7-E022-DD28-7000D41E26D8}"/>
              </a:ext>
            </a:extLst>
          </p:cNvPr>
          <p:cNvSpPr txBox="1"/>
          <p:nvPr/>
        </p:nvSpPr>
        <p:spPr>
          <a:xfrm>
            <a:off x="2425696" y="5080086"/>
            <a:ext cx="1555760" cy="3547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国际营销对外的日立、商显占用数</a:t>
            </a:r>
            <a:endParaRPr lang="en-US" altLang="zh-CN" sz="1000" b="1" dirty="0">
              <a:solidFill>
                <a:srgbClr val="7030A0"/>
              </a:solidFill>
            </a:endParaRPr>
          </a:p>
        </p:txBody>
      </p:sp>
      <p:cxnSp>
        <p:nvCxnSpPr>
          <p:cNvPr id="358" name="连接符: 肘形 357">
            <a:extLst>
              <a:ext uri="{FF2B5EF4-FFF2-40B4-BE49-F238E27FC236}">
                <a16:creationId xmlns:a16="http://schemas.microsoft.com/office/drawing/2014/main" id="{E5DF3D15-1E0E-5C13-8104-3894480E4940}"/>
              </a:ext>
            </a:extLst>
          </p:cNvPr>
          <p:cNvCxnSpPr>
            <a:cxnSpLocks/>
            <a:stCxn id="908" idx="3"/>
            <a:endCxn id="100" idx="1"/>
          </p:cNvCxnSpPr>
          <p:nvPr/>
        </p:nvCxnSpPr>
        <p:spPr>
          <a:xfrm flipV="1">
            <a:off x="7984913" y="1706611"/>
            <a:ext cx="731887" cy="975192"/>
          </a:xfrm>
          <a:prstGeom prst="bentConnector3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3E24BF61-91DB-8054-7790-69ED79476613}"/>
              </a:ext>
            </a:extLst>
          </p:cNvPr>
          <p:cNvSpPr/>
          <p:nvPr>
            <p:custDataLst>
              <p:tags r:id="rId86"/>
            </p:custDataLst>
          </p:nvPr>
        </p:nvSpPr>
        <p:spPr>
          <a:xfrm>
            <a:off x="10643419" y="4693548"/>
            <a:ext cx="1354667" cy="230833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财务中台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5302D7-E40C-C61C-C03B-FC7A0F04DE97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10710513" y="5098847"/>
            <a:ext cx="1220479" cy="475621"/>
          </a:xfrm>
          <a:prstGeom prst="rect">
            <a:avLst/>
          </a:prstGeom>
          <a:solidFill>
            <a:srgbClr val="D9F1F2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2BF2C8-86BC-48C0-AEEE-AC1E00B86264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10868812" y="5208432"/>
            <a:ext cx="981723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坏账接口表</a:t>
            </a: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A3D3E2C6-4AA5-7FE1-E5C9-B4A180259459}"/>
              </a:ext>
            </a:extLst>
          </p:cNvPr>
          <p:cNvCxnSpPr>
            <a:cxnSpLocks/>
            <a:stCxn id="100" idx="3"/>
            <a:endCxn id="13" idx="1"/>
          </p:cNvCxnSpPr>
          <p:nvPr/>
        </p:nvCxnSpPr>
        <p:spPr>
          <a:xfrm>
            <a:off x="9977213" y="1706611"/>
            <a:ext cx="891599" cy="364630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75A0EB5-EF02-EF1B-0500-BAC8F0915843}"/>
              </a:ext>
            </a:extLst>
          </p:cNvPr>
          <p:cNvSpPr txBox="1"/>
          <p:nvPr/>
        </p:nvSpPr>
        <p:spPr>
          <a:xfrm>
            <a:off x="9372578" y="6255684"/>
            <a:ext cx="1269550" cy="5311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二期范围内公司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账龄和坏账从</a:t>
            </a:r>
            <a:r>
              <a:rPr lang="en-US" altLang="zh-CN" sz="1000" b="1" dirty="0">
                <a:solidFill>
                  <a:srgbClr val="7030A0"/>
                </a:solidFill>
              </a:rPr>
              <a:t>2.0</a:t>
            </a:r>
            <a:r>
              <a:rPr lang="zh-CN" altLang="en-US" sz="1000" b="1" dirty="0">
                <a:solidFill>
                  <a:srgbClr val="7030A0"/>
                </a:solidFill>
              </a:rPr>
              <a:t>推送到</a:t>
            </a:r>
            <a:r>
              <a:rPr lang="en-US" altLang="zh-CN" sz="1000" b="1" dirty="0">
                <a:solidFill>
                  <a:srgbClr val="7030A0"/>
                </a:solidFill>
              </a:rPr>
              <a:t>1.0</a:t>
            </a:r>
            <a:endParaRPr lang="zh-CN" altLang="en-US" sz="1000" b="1" dirty="0">
              <a:solidFill>
                <a:srgbClr val="7030A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2DD5816-BA51-42AB-B938-A7123782FB91}"/>
              </a:ext>
            </a:extLst>
          </p:cNvPr>
          <p:cNvSpPr txBox="1"/>
          <p:nvPr/>
        </p:nvSpPr>
        <p:spPr>
          <a:xfrm>
            <a:off x="10049974" y="4891080"/>
            <a:ext cx="1269550" cy="5311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二期范围内公司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坏账从</a:t>
            </a:r>
            <a:r>
              <a:rPr lang="en-US" altLang="zh-CN" sz="1000" b="1" dirty="0">
                <a:solidFill>
                  <a:srgbClr val="7030A0"/>
                </a:solidFill>
              </a:rPr>
              <a:t>2.0</a:t>
            </a:r>
            <a:r>
              <a:rPr lang="zh-CN" altLang="en-US" sz="1000" b="1" dirty="0">
                <a:solidFill>
                  <a:srgbClr val="7030A0"/>
                </a:solidFill>
              </a:rPr>
              <a:t>推送到财务中台</a:t>
            </a:r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8AD5B32D-1889-D139-0F25-CE7EB1DD3738}"/>
              </a:ext>
            </a:extLst>
          </p:cNvPr>
          <p:cNvCxnSpPr>
            <a:cxnSpLocks/>
            <a:stCxn id="959" idx="3"/>
          </p:cNvCxnSpPr>
          <p:nvPr/>
        </p:nvCxnSpPr>
        <p:spPr>
          <a:xfrm flipH="1" flipV="1">
            <a:off x="11320753" y="5539105"/>
            <a:ext cx="686259" cy="948212"/>
          </a:xfrm>
          <a:prstGeom prst="bentConnector4">
            <a:avLst>
              <a:gd name="adj1" fmla="val -23441"/>
              <a:gd name="adj2" fmla="val 63296"/>
            </a:avLst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84925BAF-5E12-3A75-1878-1012E895E3CC}"/>
              </a:ext>
            </a:extLst>
          </p:cNvPr>
          <p:cNvSpPr txBox="1"/>
          <p:nvPr/>
        </p:nvSpPr>
        <p:spPr>
          <a:xfrm>
            <a:off x="10701867" y="5583916"/>
            <a:ext cx="1709627" cy="3778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非二期范围内公司</a:t>
            </a:r>
            <a:endParaRPr lang="en-US" altLang="zh-CN" sz="1000" b="1" dirty="0">
              <a:solidFill>
                <a:srgbClr val="7030A0"/>
              </a:solidFill>
            </a:endParaRPr>
          </a:p>
          <a:p>
            <a:r>
              <a:rPr lang="zh-CN" altLang="en-US" sz="1000" b="1" dirty="0">
                <a:solidFill>
                  <a:srgbClr val="7030A0"/>
                </a:solidFill>
              </a:rPr>
              <a:t>坏账从</a:t>
            </a:r>
            <a:r>
              <a:rPr lang="en-US" altLang="zh-CN" sz="1000" b="1" dirty="0">
                <a:solidFill>
                  <a:srgbClr val="7030A0"/>
                </a:solidFill>
              </a:rPr>
              <a:t>1.0</a:t>
            </a:r>
            <a:r>
              <a:rPr lang="zh-CN" altLang="en-US" sz="1000" b="1" dirty="0">
                <a:solidFill>
                  <a:srgbClr val="7030A0"/>
                </a:solidFill>
              </a:rPr>
              <a:t>推送到财务中台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8B44C2E-65C4-7569-BE3F-8B68C6DCED2E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6620678" y="1563410"/>
            <a:ext cx="1212936" cy="288968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坏账计算基数调整表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667374D-7E3E-3CC2-8B1B-AE2904383C1D}"/>
              </a:ext>
            </a:extLst>
          </p:cNvPr>
          <p:cNvCxnSpPr>
            <a:cxnSpLocks/>
            <a:stCxn id="48" idx="2"/>
            <a:endCxn id="907" idx="0"/>
          </p:cNvCxnSpPr>
          <p:nvPr/>
        </p:nvCxnSpPr>
        <p:spPr>
          <a:xfrm>
            <a:off x="7227146" y="1852378"/>
            <a:ext cx="0" cy="145275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C7F5C2A-68C1-162F-BA55-8202C1CCCAC9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437153" y="3161990"/>
            <a:ext cx="1264920" cy="19367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科目余额表</a:t>
            </a:r>
          </a:p>
        </p:txBody>
      </p:sp>
      <p:sp>
        <p:nvSpPr>
          <p:cNvPr id="923" name="矩形 922">
            <a:extLst>
              <a:ext uri="{FF2B5EF4-FFF2-40B4-BE49-F238E27FC236}">
                <a16:creationId xmlns:a16="http://schemas.microsoft.com/office/drawing/2014/main" id="{D389A737-F992-AD0C-832B-6D1528DD13F0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4539679" y="1313440"/>
            <a:ext cx="1358550" cy="448358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4" name="矩形 923">
            <a:extLst>
              <a:ext uri="{FF2B5EF4-FFF2-40B4-BE49-F238E27FC236}">
                <a16:creationId xmlns:a16="http://schemas.microsoft.com/office/drawing/2014/main" id="{8B4AAFCD-E8A6-4873-38E5-706B856A5A0C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4579291" y="1401705"/>
            <a:ext cx="1263555" cy="317347"/>
          </a:xfrm>
          <a:prstGeom prst="rect">
            <a:avLst/>
          </a:prstGeom>
          <a:solidFill>
            <a:srgbClr val="2D7D7F"/>
          </a:solidFill>
          <a:ln w="12700" cap="flat" cmpd="sng" algn="ctr">
            <a:solidFill>
              <a:srgbClr val="F2F2F2"/>
            </a:solidFill>
            <a:prstDash val="lg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单体销售明细表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出库及退货（一期）</a:t>
            </a:r>
          </a:p>
        </p:txBody>
      </p:sp>
      <p:cxnSp>
        <p:nvCxnSpPr>
          <p:cNvPr id="954" name="连接符: 肘形 953">
            <a:extLst>
              <a:ext uri="{FF2B5EF4-FFF2-40B4-BE49-F238E27FC236}">
                <a16:creationId xmlns:a16="http://schemas.microsoft.com/office/drawing/2014/main" id="{27F2BBAA-6B80-5E1A-DE1A-E20F6B95E9BB}"/>
              </a:ext>
            </a:extLst>
          </p:cNvPr>
          <p:cNvCxnSpPr>
            <a:cxnSpLocks/>
            <a:stCxn id="924" idx="1"/>
            <a:endCxn id="30" idx="1"/>
          </p:cNvCxnSpPr>
          <p:nvPr/>
        </p:nvCxnSpPr>
        <p:spPr>
          <a:xfrm rot="10800000" flipV="1">
            <a:off x="4527879" y="1560379"/>
            <a:ext cx="51412" cy="1048028"/>
          </a:xfrm>
          <a:prstGeom prst="bentConnector3">
            <a:avLst>
              <a:gd name="adj1" fmla="val 544643"/>
            </a:avLst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E2918FC3-3BC6-38F6-F214-11212DFF99D2}"/>
              </a:ext>
            </a:extLst>
          </p:cNvPr>
          <p:cNvCxnSpPr>
            <a:cxnSpLocks/>
            <a:stCxn id="321" idx="2"/>
            <a:endCxn id="64" idx="0"/>
          </p:cNvCxnSpPr>
          <p:nvPr/>
        </p:nvCxnSpPr>
        <p:spPr>
          <a:xfrm flipH="1">
            <a:off x="2922023" y="2766140"/>
            <a:ext cx="5999" cy="1252191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17" name="矩形 916">
            <a:extLst>
              <a:ext uri="{FF2B5EF4-FFF2-40B4-BE49-F238E27FC236}">
                <a16:creationId xmlns:a16="http://schemas.microsoft.com/office/drawing/2014/main" id="{C899048B-3EB6-03C4-1B53-2BD72CD848C7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4586211" y="2471502"/>
            <a:ext cx="1263555" cy="526139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往来账龄结果表</a:t>
            </a:r>
            <a:endParaRPr lang="en-US" altLang="zh-CN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AW_MR9_ARPM01_000002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7" name="直接箭头连接符 926">
            <a:extLst>
              <a:ext uri="{FF2B5EF4-FFF2-40B4-BE49-F238E27FC236}">
                <a16:creationId xmlns:a16="http://schemas.microsoft.com/office/drawing/2014/main" id="{C549CF1F-E429-EC39-3217-97A7FF844598}"/>
              </a:ext>
            </a:extLst>
          </p:cNvPr>
          <p:cNvCxnSpPr>
            <a:cxnSpLocks/>
          </p:cNvCxnSpPr>
          <p:nvPr/>
        </p:nvCxnSpPr>
        <p:spPr>
          <a:xfrm flipH="1">
            <a:off x="5224328" y="2381655"/>
            <a:ext cx="291" cy="137037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33" name="文本框 932">
            <a:extLst>
              <a:ext uri="{FF2B5EF4-FFF2-40B4-BE49-F238E27FC236}">
                <a16:creationId xmlns:a16="http://schemas.microsoft.com/office/drawing/2014/main" id="{F7E6051B-8F10-BDF9-2DE5-766BC38D38C2}"/>
              </a:ext>
            </a:extLst>
          </p:cNvPr>
          <p:cNvSpPr txBox="1"/>
          <p:nvPr/>
        </p:nvSpPr>
        <p:spPr>
          <a:xfrm>
            <a:off x="5353793" y="2913294"/>
            <a:ext cx="990561" cy="2450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往来调整处理</a:t>
            </a:r>
          </a:p>
        </p:txBody>
      </p:sp>
      <p:cxnSp>
        <p:nvCxnSpPr>
          <p:cNvPr id="935" name="直接箭头连接符 934">
            <a:extLst>
              <a:ext uri="{FF2B5EF4-FFF2-40B4-BE49-F238E27FC236}">
                <a16:creationId xmlns:a16="http://schemas.microsoft.com/office/drawing/2014/main" id="{0DADD591-B5A4-7A69-261A-95CF1482501A}"/>
              </a:ext>
            </a:extLst>
          </p:cNvPr>
          <p:cNvCxnSpPr>
            <a:cxnSpLocks/>
            <a:stCxn id="59" idx="0"/>
            <a:endCxn id="917" idx="2"/>
          </p:cNvCxnSpPr>
          <p:nvPr/>
        </p:nvCxnSpPr>
        <p:spPr>
          <a:xfrm flipV="1">
            <a:off x="5217667" y="2997641"/>
            <a:ext cx="322" cy="88750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49" name="文本框 948">
            <a:extLst>
              <a:ext uri="{FF2B5EF4-FFF2-40B4-BE49-F238E27FC236}">
                <a16:creationId xmlns:a16="http://schemas.microsoft.com/office/drawing/2014/main" id="{54D9284A-CE44-F41A-4E7A-B668EF060077}"/>
              </a:ext>
            </a:extLst>
          </p:cNvPr>
          <p:cNvSpPr txBox="1"/>
          <p:nvPr/>
        </p:nvSpPr>
        <p:spPr>
          <a:xfrm>
            <a:off x="3944429" y="2263878"/>
            <a:ext cx="990561" cy="2450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重分类处理</a:t>
            </a:r>
          </a:p>
        </p:txBody>
      </p:sp>
      <p:sp>
        <p:nvSpPr>
          <p:cNvPr id="950" name="文本框 949">
            <a:extLst>
              <a:ext uri="{FF2B5EF4-FFF2-40B4-BE49-F238E27FC236}">
                <a16:creationId xmlns:a16="http://schemas.microsoft.com/office/drawing/2014/main" id="{9A6458BF-88ED-6D0D-5491-82B92E4F9AE2}"/>
              </a:ext>
            </a:extLst>
          </p:cNvPr>
          <p:cNvSpPr txBox="1"/>
          <p:nvPr/>
        </p:nvSpPr>
        <p:spPr>
          <a:xfrm>
            <a:off x="3944716" y="3727730"/>
            <a:ext cx="721109" cy="3853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调整类型区分</a:t>
            </a:r>
          </a:p>
        </p:txBody>
      </p:sp>
      <p:sp>
        <p:nvSpPr>
          <p:cNvPr id="956" name="矩形 955">
            <a:extLst>
              <a:ext uri="{FF2B5EF4-FFF2-40B4-BE49-F238E27FC236}">
                <a16:creationId xmlns:a16="http://schemas.microsoft.com/office/drawing/2014/main" id="{D0794E0E-F554-3428-F9B5-2FFA81B10F69}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6570742" y="2504500"/>
            <a:ext cx="1307987" cy="558850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坏账计算表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法人口径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AW_MR9_ARPM02_000001</a:t>
            </a:r>
            <a:endParaRPr lang="zh-CN" altLang="en-US" sz="9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2" name="文本框 951">
            <a:extLst>
              <a:ext uri="{FF2B5EF4-FFF2-40B4-BE49-F238E27FC236}">
                <a16:creationId xmlns:a16="http://schemas.microsoft.com/office/drawing/2014/main" id="{1ADC7231-E384-4880-43D0-1ED813A3C876}"/>
              </a:ext>
            </a:extLst>
          </p:cNvPr>
          <p:cNvSpPr txBox="1"/>
          <p:nvPr/>
        </p:nvSpPr>
        <p:spPr>
          <a:xfrm>
            <a:off x="6577992" y="2295088"/>
            <a:ext cx="1583450" cy="2889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按账套</a:t>
            </a:r>
            <a:r>
              <a:rPr lang="en-US" altLang="zh-CN" sz="1000" b="1" dirty="0">
                <a:solidFill>
                  <a:srgbClr val="7030A0"/>
                </a:solidFill>
              </a:rPr>
              <a:t>+</a:t>
            </a:r>
            <a:r>
              <a:rPr lang="zh-CN" altLang="en-US" sz="1000" b="1" dirty="0">
                <a:solidFill>
                  <a:srgbClr val="7030A0"/>
                </a:solidFill>
              </a:rPr>
              <a:t>客户计提坏账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4B3570B7-DD07-EB22-444E-176DBF626DEF}"/>
              </a:ext>
            </a:extLst>
          </p:cNvPr>
          <p:cNvCxnSpPr>
            <a:cxnSpLocks/>
            <a:stCxn id="956" idx="2"/>
            <a:endCxn id="909" idx="0"/>
          </p:cNvCxnSpPr>
          <p:nvPr/>
        </p:nvCxnSpPr>
        <p:spPr>
          <a:xfrm>
            <a:off x="7224736" y="3063350"/>
            <a:ext cx="0" cy="224510"/>
          </a:xfrm>
          <a:prstGeom prst="straightConnector1">
            <a:avLst/>
          </a:prstGeom>
          <a:noFill/>
          <a:ln w="12700" cap="flat" cmpd="sng" algn="ctr">
            <a:solidFill>
              <a:srgbClr val="0A2F8F"/>
            </a:solidFill>
            <a:prstDash val="solid"/>
            <a:tailEnd type="triangle"/>
          </a:ln>
          <a:effectLst/>
        </p:spPr>
      </p:cxnSp>
      <p:sp>
        <p:nvSpPr>
          <p:cNvPr id="92" name="矩形 91">
            <a:extLst>
              <a:ext uri="{FF2B5EF4-FFF2-40B4-BE49-F238E27FC236}">
                <a16:creationId xmlns:a16="http://schemas.microsoft.com/office/drawing/2014/main" id="{ACD3D292-19AB-09A9-05E2-E2876E05844C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8677613" y="1378231"/>
            <a:ext cx="1358550" cy="1409897"/>
          </a:xfrm>
          <a:prstGeom prst="rect">
            <a:avLst/>
          </a:prstGeom>
          <a:solidFill>
            <a:srgbClr val="C7F7F6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1186021-5BAA-C6CC-0EF2-DA0C3922809F}"/>
              </a:ext>
            </a:extLst>
          </p:cNvPr>
          <p:cNvSpPr txBox="1"/>
          <p:nvPr/>
        </p:nvSpPr>
        <p:spPr>
          <a:xfrm>
            <a:off x="6579216" y="2998920"/>
            <a:ext cx="1583450" cy="2889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按账套</a:t>
            </a:r>
            <a:r>
              <a:rPr lang="en-US" altLang="zh-CN" sz="1000" b="1" dirty="0">
                <a:solidFill>
                  <a:srgbClr val="7030A0"/>
                </a:solidFill>
              </a:rPr>
              <a:t>+</a:t>
            </a:r>
            <a:r>
              <a:rPr lang="zh-CN" altLang="en-US" sz="1000" b="1" dirty="0">
                <a:solidFill>
                  <a:srgbClr val="7030A0"/>
                </a:solidFill>
              </a:rPr>
              <a:t>客户计提坏账分摊到利润中心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FBA85E8-E4F7-5663-3A9C-1FC4B7A7A4F4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8716800" y="2064005"/>
            <a:ext cx="1260413" cy="58208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管理口径账龄明细表（含坏账）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AW_MR8_ARPS01_000002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E48C6FC3-322C-A028-7CAA-CB0EDF8938FA}"/>
              </a:ext>
            </a:extLst>
          </p:cNvPr>
          <p:cNvSpPr/>
          <p:nvPr>
            <p:custDataLst>
              <p:tags r:id="rId97"/>
            </p:custDataLst>
          </p:nvPr>
        </p:nvSpPr>
        <p:spPr>
          <a:xfrm>
            <a:off x="8716800" y="1415568"/>
            <a:ext cx="1260413" cy="582085"/>
          </a:xfrm>
          <a:prstGeom prst="rect">
            <a:avLst/>
          </a:prstGeom>
          <a:solidFill>
            <a:srgbClr val="2D7D7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法人口径账龄明细表（含坏账）</a:t>
            </a:r>
            <a:r>
              <a:rPr lang="en-US" altLang="zh-CN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AW_MR8_ARPS01_000001</a:t>
            </a:r>
          </a:p>
        </p:txBody>
      </p: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0957DC7E-E341-7D8E-7D2F-F916D83C71C9}"/>
              </a:ext>
            </a:extLst>
          </p:cNvPr>
          <p:cNvCxnSpPr>
            <a:cxnSpLocks/>
            <a:stCxn id="100" idx="3"/>
            <a:endCxn id="78" idx="1"/>
          </p:cNvCxnSpPr>
          <p:nvPr/>
        </p:nvCxnSpPr>
        <p:spPr>
          <a:xfrm>
            <a:off x="9977213" y="1706611"/>
            <a:ext cx="852350" cy="477307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BCB55A2-0243-B543-0AE4-B66CB98FBC67}"/>
              </a:ext>
            </a:extLst>
          </p:cNvPr>
          <p:cNvSpPr txBox="1"/>
          <p:nvPr/>
        </p:nvSpPr>
        <p:spPr>
          <a:xfrm>
            <a:off x="8881144" y="4153876"/>
            <a:ext cx="1065147" cy="2889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 dirty="0">
                <a:solidFill>
                  <a:srgbClr val="7030A0"/>
                </a:solidFill>
              </a:rPr>
              <a:t>周转计算模型</a:t>
            </a:r>
          </a:p>
        </p:txBody>
      </p: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6C12F144-E7B4-DCFE-4BD5-C849D9CEA38A}"/>
              </a:ext>
            </a:extLst>
          </p:cNvPr>
          <p:cNvCxnSpPr>
            <a:cxnSpLocks/>
            <a:stCxn id="321" idx="3"/>
            <a:endCxn id="910" idx="1"/>
          </p:cNvCxnSpPr>
          <p:nvPr/>
        </p:nvCxnSpPr>
        <p:spPr>
          <a:xfrm>
            <a:off x="3472217" y="2608025"/>
            <a:ext cx="1107074" cy="1357347"/>
          </a:xfrm>
          <a:prstGeom prst="bentConnector3">
            <a:avLst>
              <a:gd name="adj1" fmla="val 63662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06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应收重构</a:t>
            </a:r>
            <a:r>
              <a:rPr lang="en-US" altLang="zh-CN" dirty="0"/>
              <a:t> – </a:t>
            </a:r>
            <a:r>
              <a:rPr lang="zh-CN" altLang="en-US" dirty="0"/>
              <a:t>维度设计</a:t>
            </a:r>
          </a:p>
          <a:p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2F2BD02-B8EB-191D-AF7F-AB437D4DE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416186"/>
              </p:ext>
            </p:extLst>
          </p:nvPr>
        </p:nvGraphicFramePr>
        <p:xfrm>
          <a:off x="356680" y="894946"/>
          <a:ext cx="11478639" cy="5462041"/>
        </p:xfrm>
        <a:graphic>
          <a:graphicData uri="http://schemas.openxmlformats.org/drawingml/2006/table">
            <a:tbl>
              <a:tblPr/>
              <a:tblGrid>
                <a:gridCol w="918629">
                  <a:extLst>
                    <a:ext uri="{9D8B030D-6E8A-4147-A177-3AD203B41FA5}">
                      <a16:colId xmlns:a16="http://schemas.microsoft.com/office/drawing/2014/main" val="3363156579"/>
                    </a:ext>
                  </a:extLst>
                </a:gridCol>
                <a:gridCol w="2051551">
                  <a:extLst>
                    <a:ext uri="{9D8B030D-6E8A-4147-A177-3AD203B41FA5}">
                      <a16:colId xmlns:a16="http://schemas.microsoft.com/office/drawing/2014/main" val="712097302"/>
                    </a:ext>
                  </a:extLst>
                </a:gridCol>
                <a:gridCol w="1050587">
                  <a:extLst>
                    <a:ext uri="{9D8B030D-6E8A-4147-A177-3AD203B41FA5}">
                      <a16:colId xmlns:a16="http://schemas.microsoft.com/office/drawing/2014/main" val="3693338834"/>
                    </a:ext>
                  </a:extLst>
                </a:gridCol>
                <a:gridCol w="1179172">
                  <a:extLst>
                    <a:ext uri="{9D8B030D-6E8A-4147-A177-3AD203B41FA5}">
                      <a16:colId xmlns:a16="http://schemas.microsoft.com/office/drawing/2014/main" val="1340646043"/>
                    </a:ext>
                  </a:extLst>
                </a:gridCol>
                <a:gridCol w="1373728">
                  <a:extLst>
                    <a:ext uri="{9D8B030D-6E8A-4147-A177-3AD203B41FA5}">
                      <a16:colId xmlns:a16="http://schemas.microsoft.com/office/drawing/2014/main" val="2966084604"/>
                    </a:ext>
                  </a:extLst>
                </a:gridCol>
                <a:gridCol w="1171464">
                  <a:extLst>
                    <a:ext uri="{9D8B030D-6E8A-4147-A177-3AD203B41FA5}">
                      <a16:colId xmlns:a16="http://schemas.microsoft.com/office/drawing/2014/main" val="2185351266"/>
                    </a:ext>
                  </a:extLst>
                </a:gridCol>
                <a:gridCol w="1289452">
                  <a:extLst>
                    <a:ext uri="{9D8B030D-6E8A-4147-A177-3AD203B41FA5}">
                      <a16:colId xmlns:a16="http://schemas.microsoft.com/office/drawing/2014/main" val="1513206318"/>
                    </a:ext>
                  </a:extLst>
                </a:gridCol>
                <a:gridCol w="1222028">
                  <a:extLst>
                    <a:ext uri="{9D8B030D-6E8A-4147-A177-3AD203B41FA5}">
                      <a16:colId xmlns:a16="http://schemas.microsoft.com/office/drawing/2014/main" val="2508383815"/>
                    </a:ext>
                  </a:extLst>
                </a:gridCol>
                <a:gridCol w="1222028">
                  <a:extLst>
                    <a:ext uri="{9D8B030D-6E8A-4147-A177-3AD203B41FA5}">
                      <a16:colId xmlns:a16="http://schemas.microsoft.com/office/drawing/2014/main" val="652854939"/>
                    </a:ext>
                  </a:extLst>
                </a:gridCol>
              </a:tblGrid>
              <a:tr h="306553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维度设计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往来账龄计算底稿</a:t>
                      </a:r>
                      <a:r>
                        <a:rPr lang="en-US" altLang="zh-CN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往来账龄结果表</a:t>
                      </a:r>
                      <a:r>
                        <a:rPr lang="en-US" altLang="zh-CN" sz="1100" b="1" i="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坏账计提计算表</a:t>
                      </a:r>
                      <a:r>
                        <a:rPr lang="en-US" altLang="zh-CN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应收周转占用明细表</a:t>
                      </a:r>
                      <a:r>
                        <a:rPr lang="en-US" altLang="zh-CN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应收周转收入明细表</a:t>
                      </a:r>
                      <a:r>
                        <a:rPr lang="en-US" altLang="zh-CN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账龄坏账明细表</a:t>
                      </a:r>
                      <a:r>
                        <a:rPr lang="en-US" altLang="zh-CN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周转分析表</a:t>
                      </a:r>
                      <a:r>
                        <a:rPr lang="en-US" sz="1100" b="1" i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7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16459"/>
                  </a:ext>
                </a:extLst>
              </a:tr>
              <a:tr h="170962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根据业务数据判断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451805"/>
                  </a:ext>
                </a:extLst>
              </a:tr>
              <a:tr h="170962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期间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根据业务数据判断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537319"/>
                  </a:ext>
                </a:extLst>
              </a:tr>
              <a:tr h="170962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根据业务数据判断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522035"/>
                  </a:ext>
                </a:extLst>
              </a:tr>
              <a:tr h="170962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科目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根据业务数据判断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207253"/>
                  </a:ext>
                </a:extLst>
              </a:tr>
              <a:tr h="357349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指标口径，用于存放周转分析数据的口径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501683"/>
                  </a:ext>
                </a:extLst>
              </a:tr>
              <a:tr h="1014871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系统取值：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ZAMOUNT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管理原始抽取数据</a:t>
                      </a:r>
                      <a:b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手工调整：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ZFAMOUNT-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手工输入原始数据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补录</a:t>
                      </a:r>
                      <a:b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坏账分摊后数据：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GA00_A00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969548"/>
                  </a:ext>
                </a:extLst>
              </a:tr>
              <a:tr h="576522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调整类型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日立商显对国际营销的应收占用需要还原成国际营销对外的应收，用调整类型来区分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229586"/>
                  </a:ext>
                </a:extLst>
              </a:tr>
              <a:tr h="247762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利润中心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根据利润中心映射表映射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726381"/>
                  </a:ext>
                </a:extLst>
              </a:tr>
              <a:tr h="306553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一二三级分类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根据客户主数据映射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173299"/>
                  </a:ext>
                </a:extLst>
              </a:tr>
              <a:tr h="466936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业务范围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根据公司</a:t>
                      </a: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</a:t>
                      </a:r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</a:t>
                      </a: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</a:t>
                      </a:r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二级公司分类</a:t>
                      </a: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</a:t>
                      </a:r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三级性质</a:t>
                      </a: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</a:t>
                      </a:r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国家映射业务范围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13030"/>
                  </a:ext>
                </a:extLst>
              </a:tr>
              <a:tr h="247762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渠道分组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根据公司</a:t>
                      </a: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</a:t>
                      </a:r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客户映射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163704"/>
                  </a:ext>
                </a:extLst>
              </a:tr>
              <a:tr h="35734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0" i="0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周转分析渠道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【</a:t>
                      </a:r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待拉通</a:t>
                      </a: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】</a:t>
                      </a:r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根据一二三级公司分类</a:t>
                      </a: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</a:t>
                      </a:r>
                      <a:r>
                        <a:rPr lang="zh-CN" altLang="en-US" sz="1100" b="0" i="0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客户映射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406303"/>
                  </a:ext>
                </a:extLst>
              </a:tr>
              <a:tr h="466936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业务管理单元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SAP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系统号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利润中心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业务范围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三级性质映射业务管理单元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43732" marR="43732" marT="21866" marB="21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0002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A0D4-5B97-F4C7-F35C-8AA31950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5054253-30FC-3C2A-0815-FC49D2E03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应收重构</a:t>
            </a:r>
            <a:r>
              <a:rPr lang="en-US" altLang="zh-CN" dirty="0"/>
              <a:t> – </a:t>
            </a:r>
            <a:r>
              <a:rPr lang="zh-CN" altLang="en-US" dirty="0"/>
              <a:t>账龄表</a:t>
            </a:r>
            <a:r>
              <a:rPr lang="en-US" altLang="zh-CN" dirty="0"/>
              <a:t>D2M</a:t>
            </a:r>
            <a:r>
              <a:rPr lang="zh-CN" altLang="en-US" dirty="0"/>
              <a:t>处理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8E3A0D-798C-3FE4-CE8B-01BB44EFD706}"/>
              </a:ext>
            </a:extLst>
          </p:cNvPr>
          <p:cNvSpPr txBox="1"/>
          <p:nvPr/>
        </p:nvSpPr>
        <p:spPr>
          <a:xfrm>
            <a:off x="538815" y="1144128"/>
            <a:ext cx="409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DWD</a:t>
            </a:r>
            <a:r>
              <a:rPr lang="zh-CN" altLang="en-US" dirty="0"/>
              <a:t>层往来账龄明细表：到凭证编码的行项目明细，计算每行数的账龄天数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D3E1E4-E7F2-F241-2C70-40944C64C8B3}"/>
              </a:ext>
            </a:extLst>
          </p:cNvPr>
          <p:cNvSpPr txBox="1"/>
          <p:nvPr/>
        </p:nvSpPr>
        <p:spPr>
          <a:xfrm>
            <a:off x="4850196" y="949797"/>
            <a:ext cx="40970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DWM</a:t>
            </a:r>
            <a:r>
              <a:rPr lang="zh-CN" altLang="en-US" dirty="0"/>
              <a:t>层往来账龄计算底稿：汇总</a:t>
            </a:r>
            <a:r>
              <a:rPr lang="en-US" altLang="zh-CN" dirty="0"/>
              <a:t>DWD</a:t>
            </a:r>
            <a:r>
              <a:rPr lang="zh-CN" altLang="en-US" dirty="0"/>
              <a:t>层的往来账龄明细表的数据，出库未开的明细、退货未办的明细，</a:t>
            </a:r>
            <a:r>
              <a:rPr lang="en-US" altLang="zh-CN" dirty="0"/>
              <a:t>DWD</a:t>
            </a:r>
            <a:r>
              <a:rPr lang="zh-CN" altLang="en-US" dirty="0"/>
              <a:t>层的超期款明细，</a:t>
            </a:r>
            <a:r>
              <a:rPr lang="en-US" altLang="zh-CN" dirty="0"/>
              <a:t>DWD</a:t>
            </a:r>
            <a:r>
              <a:rPr lang="zh-CN" altLang="en-US" dirty="0"/>
              <a:t>层的欠付费用、</a:t>
            </a:r>
            <a:r>
              <a:rPr lang="en-US" altLang="zh-CN" dirty="0"/>
              <a:t>DWD</a:t>
            </a:r>
            <a:r>
              <a:rPr lang="zh-CN" altLang="en-US" dirty="0"/>
              <a:t>层的欠付返利，通过数据分类字段把数据都放在行上，保留</a:t>
            </a:r>
            <a:r>
              <a:rPr lang="en-US" altLang="zh-CN" dirty="0"/>
              <a:t>SAP</a:t>
            </a:r>
            <a:r>
              <a:rPr lang="zh-CN" altLang="en-US" dirty="0"/>
              <a:t>的明细科目，用账龄天数的字段根据</a:t>
            </a:r>
            <a:r>
              <a:rPr lang="en-US" altLang="zh-CN" dirty="0"/>
              <a:t>《</a:t>
            </a:r>
            <a:r>
              <a:rPr lang="zh-CN" altLang="en-US" dirty="0"/>
              <a:t>账龄段配置表</a:t>
            </a:r>
            <a:r>
              <a:rPr lang="en-US" altLang="zh-CN" dirty="0"/>
              <a:t>》</a:t>
            </a:r>
            <a:r>
              <a:rPr lang="zh-CN" altLang="en-US" dirty="0"/>
              <a:t>处理到对应的账龄区间，再通过</a:t>
            </a:r>
            <a:r>
              <a:rPr lang="en-US" altLang="zh-CN" dirty="0"/>
              <a:t>《</a:t>
            </a:r>
            <a:r>
              <a:rPr lang="zh-CN" altLang="en-US" dirty="0"/>
              <a:t>重分类规则配置表</a:t>
            </a:r>
            <a:r>
              <a:rPr lang="en-US" altLang="zh-CN" dirty="0"/>
              <a:t>》</a:t>
            </a:r>
            <a:r>
              <a:rPr lang="zh-CN" altLang="en-US" dirty="0"/>
              <a:t>对数据判断不同口径的重分类标识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B537CF-2F4B-FAA9-BA3C-B44C7452C65E}"/>
              </a:ext>
            </a:extLst>
          </p:cNvPr>
          <p:cNvSpPr txBox="1"/>
          <p:nvPr/>
        </p:nvSpPr>
        <p:spPr>
          <a:xfrm>
            <a:off x="9161577" y="1503795"/>
            <a:ext cx="28353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DWM</a:t>
            </a:r>
            <a:r>
              <a:rPr lang="zh-CN" altLang="en-US" dirty="0"/>
              <a:t>层往来账龄结果表：聚合</a:t>
            </a:r>
            <a:r>
              <a:rPr lang="en-US" altLang="zh-CN" dirty="0"/>
              <a:t>DWM</a:t>
            </a:r>
            <a:r>
              <a:rPr lang="zh-CN" altLang="en-US" dirty="0"/>
              <a:t>层的往来账龄计算底稿，只到往来科目大类，不到明细科目，并且将行上的数据转到列上进行展示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BBA9DBE-673C-941B-95CF-A59B47DC2E7B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635894" y="1460206"/>
            <a:ext cx="205465" cy="7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6AB8B9E-E283-B0CE-EBE4-2BB00F607A3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947275" y="2380958"/>
            <a:ext cx="2143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5B72033-72AC-EBE7-B6FA-B89B2D47A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32647"/>
              </p:ext>
            </p:extLst>
          </p:nvPr>
        </p:nvGraphicFramePr>
        <p:xfrm>
          <a:off x="6639741" y="3513887"/>
          <a:ext cx="2521836" cy="1005840"/>
        </p:xfrm>
        <a:graphic>
          <a:graphicData uri="http://schemas.openxmlformats.org/drawingml/2006/table">
            <a:tbl>
              <a:tblPr/>
              <a:tblGrid>
                <a:gridCol w="1042491">
                  <a:extLst>
                    <a:ext uri="{9D8B030D-6E8A-4147-A177-3AD203B41FA5}">
                      <a16:colId xmlns:a16="http://schemas.microsoft.com/office/drawing/2014/main" val="2056930307"/>
                    </a:ext>
                  </a:extLst>
                </a:gridCol>
                <a:gridCol w="1479345">
                  <a:extLst>
                    <a:ext uri="{9D8B030D-6E8A-4147-A177-3AD203B41FA5}">
                      <a16:colId xmlns:a16="http://schemas.microsoft.com/office/drawing/2014/main" val="684447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1" i="0" dirty="0">
                          <a:solidFill>
                            <a:srgbClr val="F54A45"/>
                          </a:solidFill>
                          <a:effectLst/>
                        </a:rPr>
                        <a:t>账龄段配置表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26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账龄段描述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判断逻辑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04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个月以内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&lt;=30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12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2-3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个月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30-90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115949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E1406B68-E520-00BF-B012-243E32009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966101"/>
              </p:ext>
            </p:extLst>
          </p:nvPr>
        </p:nvGraphicFramePr>
        <p:xfrm>
          <a:off x="312676" y="1937885"/>
          <a:ext cx="4425954" cy="1600200"/>
        </p:xfrm>
        <a:graphic>
          <a:graphicData uri="http://schemas.openxmlformats.org/drawingml/2006/table">
            <a:tbl>
              <a:tblPr/>
              <a:tblGrid>
                <a:gridCol w="374897">
                  <a:extLst>
                    <a:ext uri="{9D8B030D-6E8A-4147-A177-3AD203B41FA5}">
                      <a16:colId xmlns:a16="http://schemas.microsoft.com/office/drawing/2014/main" val="3777945153"/>
                    </a:ext>
                  </a:extLst>
                </a:gridCol>
                <a:gridCol w="345483">
                  <a:extLst>
                    <a:ext uri="{9D8B030D-6E8A-4147-A177-3AD203B41FA5}">
                      <a16:colId xmlns:a16="http://schemas.microsoft.com/office/drawing/2014/main" val="1734255986"/>
                    </a:ext>
                  </a:extLst>
                </a:gridCol>
                <a:gridCol w="489114">
                  <a:extLst>
                    <a:ext uri="{9D8B030D-6E8A-4147-A177-3AD203B41FA5}">
                      <a16:colId xmlns:a16="http://schemas.microsoft.com/office/drawing/2014/main" val="3651451031"/>
                    </a:ext>
                  </a:extLst>
                </a:gridCol>
                <a:gridCol w="321646">
                  <a:extLst>
                    <a:ext uri="{9D8B030D-6E8A-4147-A177-3AD203B41FA5}">
                      <a16:colId xmlns:a16="http://schemas.microsoft.com/office/drawing/2014/main" val="2860307379"/>
                    </a:ext>
                  </a:extLst>
                </a:gridCol>
                <a:gridCol w="275608">
                  <a:extLst>
                    <a:ext uri="{9D8B030D-6E8A-4147-A177-3AD203B41FA5}">
                      <a16:colId xmlns:a16="http://schemas.microsoft.com/office/drawing/2014/main" val="410378487"/>
                    </a:ext>
                  </a:extLst>
                </a:gridCol>
                <a:gridCol w="367684">
                  <a:extLst>
                    <a:ext uri="{9D8B030D-6E8A-4147-A177-3AD203B41FA5}">
                      <a16:colId xmlns:a16="http://schemas.microsoft.com/office/drawing/2014/main" val="268531687"/>
                    </a:ext>
                  </a:extLst>
                </a:gridCol>
                <a:gridCol w="321646">
                  <a:extLst>
                    <a:ext uri="{9D8B030D-6E8A-4147-A177-3AD203B41FA5}">
                      <a16:colId xmlns:a16="http://schemas.microsoft.com/office/drawing/2014/main" val="3055964294"/>
                    </a:ext>
                  </a:extLst>
                </a:gridCol>
                <a:gridCol w="321646">
                  <a:extLst>
                    <a:ext uri="{9D8B030D-6E8A-4147-A177-3AD203B41FA5}">
                      <a16:colId xmlns:a16="http://schemas.microsoft.com/office/drawing/2014/main" val="2869969026"/>
                    </a:ext>
                  </a:extLst>
                </a:gridCol>
                <a:gridCol w="321646">
                  <a:extLst>
                    <a:ext uri="{9D8B030D-6E8A-4147-A177-3AD203B41FA5}">
                      <a16:colId xmlns:a16="http://schemas.microsoft.com/office/drawing/2014/main" val="3187246857"/>
                    </a:ext>
                  </a:extLst>
                </a:gridCol>
                <a:gridCol w="321646">
                  <a:extLst>
                    <a:ext uri="{9D8B030D-6E8A-4147-A177-3AD203B41FA5}">
                      <a16:colId xmlns:a16="http://schemas.microsoft.com/office/drawing/2014/main" val="2751202292"/>
                    </a:ext>
                  </a:extLst>
                </a:gridCol>
                <a:gridCol w="321646">
                  <a:extLst>
                    <a:ext uri="{9D8B030D-6E8A-4147-A177-3AD203B41FA5}">
                      <a16:colId xmlns:a16="http://schemas.microsoft.com/office/drawing/2014/main" val="1354063585"/>
                    </a:ext>
                  </a:extLst>
                </a:gridCol>
                <a:gridCol w="321646">
                  <a:extLst>
                    <a:ext uri="{9D8B030D-6E8A-4147-A177-3AD203B41FA5}">
                      <a16:colId xmlns:a16="http://schemas.microsoft.com/office/drawing/2014/main" val="4049150111"/>
                    </a:ext>
                  </a:extLst>
                </a:gridCol>
                <a:gridCol w="321646">
                  <a:extLst>
                    <a:ext uri="{9D8B030D-6E8A-4147-A177-3AD203B41FA5}">
                      <a16:colId xmlns:a16="http://schemas.microsoft.com/office/drawing/2014/main" val="1993471104"/>
                    </a:ext>
                  </a:extLst>
                </a:gridCol>
              </a:tblGrid>
              <a:tr h="0">
                <a:tc gridSpan="13">
                  <a:txBody>
                    <a:bodyPr/>
                    <a:lstStyle/>
                    <a:p>
                      <a:pPr fontAlgn="ctr" latinLnBrk="0"/>
                      <a:r>
                        <a:rPr lang="en-US" altLang="zh-CN" sz="1100" dirty="0"/>
                        <a:t>DWD</a:t>
                      </a:r>
                      <a:r>
                        <a:rPr lang="zh-CN" altLang="en-US" sz="1100" dirty="0"/>
                        <a:t>层</a:t>
                      </a:r>
                      <a:r>
                        <a:rPr lang="zh-CN" altLang="en-US" sz="1100" b="1" i="0" dirty="0">
                          <a:solidFill>
                            <a:srgbClr val="F54A45"/>
                          </a:solidFill>
                          <a:effectLst/>
                        </a:rPr>
                        <a:t>往来账龄明细表（部分字段）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1" i="0" dirty="0">
                        <a:solidFill>
                          <a:srgbClr val="F54A45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1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430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年份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月份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公司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凭证类型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凭证编号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付款原因代码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本位币币种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交易币币种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本位币金额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交易币金额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账龄长度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SAP</a:t>
                      </a:r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系统号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数据来源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67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830109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F6D77E6-215F-0723-D881-FC8D031A2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464312"/>
              </p:ext>
            </p:extLst>
          </p:nvPr>
        </p:nvGraphicFramePr>
        <p:xfrm>
          <a:off x="1377611" y="4283688"/>
          <a:ext cx="10131438" cy="2530974"/>
        </p:xfrm>
        <a:graphic>
          <a:graphicData uri="http://schemas.openxmlformats.org/drawingml/2006/table">
            <a:tbl>
              <a:tblPr/>
              <a:tblGrid>
                <a:gridCol w="499946">
                  <a:extLst>
                    <a:ext uri="{9D8B030D-6E8A-4147-A177-3AD203B41FA5}">
                      <a16:colId xmlns:a16="http://schemas.microsoft.com/office/drawing/2014/main" val="1809722421"/>
                    </a:ext>
                  </a:extLst>
                </a:gridCol>
                <a:gridCol w="499946">
                  <a:extLst>
                    <a:ext uri="{9D8B030D-6E8A-4147-A177-3AD203B41FA5}">
                      <a16:colId xmlns:a16="http://schemas.microsoft.com/office/drawing/2014/main" val="1171756129"/>
                    </a:ext>
                  </a:extLst>
                </a:gridCol>
                <a:gridCol w="499946">
                  <a:extLst>
                    <a:ext uri="{9D8B030D-6E8A-4147-A177-3AD203B41FA5}">
                      <a16:colId xmlns:a16="http://schemas.microsoft.com/office/drawing/2014/main" val="831641894"/>
                    </a:ext>
                  </a:extLst>
                </a:gridCol>
                <a:gridCol w="499946">
                  <a:extLst>
                    <a:ext uri="{9D8B030D-6E8A-4147-A177-3AD203B41FA5}">
                      <a16:colId xmlns:a16="http://schemas.microsoft.com/office/drawing/2014/main" val="3600079935"/>
                    </a:ext>
                  </a:extLst>
                </a:gridCol>
                <a:gridCol w="939424">
                  <a:extLst>
                    <a:ext uri="{9D8B030D-6E8A-4147-A177-3AD203B41FA5}">
                      <a16:colId xmlns:a16="http://schemas.microsoft.com/office/drawing/2014/main" val="2991443153"/>
                    </a:ext>
                  </a:extLst>
                </a:gridCol>
                <a:gridCol w="2941674">
                  <a:extLst>
                    <a:ext uri="{9D8B030D-6E8A-4147-A177-3AD203B41FA5}">
                      <a16:colId xmlns:a16="http://schemas.microsoft.com/office/drawing/2014/main" val="3893478175"/>
                    </a:ext>
                  </a:extLst>
                </a:gridCol>
                <a:gridCol w="455784">
                  <a:extLst>
                    <a:ext uri="{9D8B030D-6E8A-4147-A177-3AD203B41FA5}">
                      <a16:colId xmlns:a16="http://schemas.microsoft.com/office/drawing/2014/main" val="2315733115"/>
                    </a:ext>
                  </a:extLst>
                </a:gridCol>
                <a:gridCol w="632462">
                  <a:extLst>
                    <a:ext uri="{9D8B030D-6E8A-4147-A177-3AD203B41FA5}">
                      <a16:colId xmlns:a16="http://schemas.microsoft.com/office/drawing/2014/main" val="2649079819"/>
                    </a:ext>
                  </a:extLst>
                </a:gridCol>
                <a:gridCol w="632462">
                  <a:extLst>
                    <a:ext uri="{9D8B030D-6E8A-4147-A177-3AD203B41FA5}">
                      <a16:colId xmlns:a16="http://schemas.microsoft.com/office/drawing/2014/main" val="3820213467"/>
                    </a:ext>
                  </a:extLst>
                </a:gridCol>
                <a:gridCol w="632462">
                  <a:extLst>
                    <a:ext uri="{9D8B030D-6E8A-4147-A177-3AD203B41FA5}">
                      <a16:colId xmlns:a16="http://schemas.microsoft.com/office/drawing/2014/main" val="2819048418"/>
                    </a:ext>
                  </a:extLst>
                </a:gridCol>
                <a:gridCol w="632462">
                  <a:extLst>
                    <a:ext uri="{9D8B030D-6E8A-4147-A177-3AD203B41FA5}">
                      <a16:colId xmlns:a16="http://schemas.microsoft.com/office/drawing/2014/main" val="3381990653"/>
                    </a:ext>
                  </a:extLst>
                </a:gridCol>
                <a:gridCol w="632462">
                  <a:extLst>
                    <a:ext uri="{9D8B030D-6E8A-4147-A177-3AD203B41FA5}">
                      <a16:colId xmlns:a16="http://schemas.microsoft.com/office/drawing/2014/main" val="1722206434"/>
                    </a:ext>
                  </a:extLst>
                </a:gridCol>
                <a:gridCol w="632462">
                  <a:extLst>
                    <a:ext uri="{9D8B030D-6E8A-4147-A177-3AD203B41FA5}">
                      <a16:colId xmlns:a16="http://schemas.microsoft.com/office/drawing/2014/main" val="1727166439"/>
                    </a:ext>
                  </a:extLst>
                </a:gridCol>
              </a:tblGrid>
              <a:tr h="360428">
                <a:tc gridSpan="13">
                  <a:txBody>
                    <a:bodyPr/>
                    <a:lstStyle/>
                    <a:p>
                      <a:pPr fontAlgn="ctr" latinLnBrk="0"/>
                      <a:r>
                        <a:rPr lang="zh-CN" altLang="en-US" sz="1000" b="1" i="0" dirty="0">
                          <a:solidFill>
                            <a:srgbClr val="F54A45"/>
                          </a:solidFill>
                          <a:effectLst/>
                        </a:rPr>
                        <a:t>往来账龄计算底稿</a:t>
                      </a:r>
                      <a:br>
                        <a:rPr lang="zh-CN" altLang="en-US" sz="1000" b="1" i="0" dirty="0">
                          <a:solidFill>
                            <a:srgbClr val="F54A45"/>
                          </a:solidFill>
                          <a:effectLst/>
                        </a:rPr>
                      </a:br>
                      <a:r>
                        <a:rPr lang="en-US" sz="1000" b="1" i="0" dirty="0">
                          <a:solidFill>
                            <a:srgbClr val="F54A45"/>
                          </a:solidFill>
                          <a:effectLst/>
                        </a:rPr>
                        <a:t>AW_MR9_ARPM01_000001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0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000" b="1" i="0" dirty="0">
                        <a:solidFill>
                          <a:srgbClr val="F54A45"/>
                        </a:solidFill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b="0" i="0" dirty="0">
                        <a:effectLst/>
                      </a:endParaRP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602239"/>
                  </a:ext>
                </a:extLst>
              </a:tr>
              <a:tr h="46895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场景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期间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公司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科目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类别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 dirty="0">
                          <a:solidFill>
                            <a:srgbClr val="FFFFFF"/>
                          </a:solidFill>
                          <a:effectLst/>
                        </a:rPr>
                        <a:t>数据分类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主户编码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主户名称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分户编码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分户名称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法人单体账龄标识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管理单体账龄标识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i="0">
                          <a:solidFill>
                            <a:srgbClr val="FFFFFF"/>
                          </a:solidFill>
                          <a:effectLst/>
                        </a:rPr>
                        <a:t>管理分公司账龄标识</a:t>
                      </a:r>
                    </a:p>
                  </a:txBody>
                  <a:tcPr marL="86738" marR="86738" marT="43369" marB="433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562686"/>
                  </a:ext>
                </a:extLst>
              </a:tr>
              <a:tr h="1375558"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系统取值用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ZAMOUNT-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原始数据抽取</a:t>
                      </a: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法人：取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层往来账龄明细表，根据账龄长度匹配配置表对应账龄区间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出库未开：取单体销售明细表中源数据明细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ZTSO04_CK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，账龄区间放最近的一个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退货未办：取单体销售明细表中源数据明细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ZTSO04_TH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，账龄区间放最近的一个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超期款：取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层超期款明细表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欠付费用：取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层往来账龄明细表，原因代码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，凭证类型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zz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的数据，根据账龄长度匹配配置表对应账龄区间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欠付返利：取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层已确认未兑现返利金额明细表</a:t>
                      </a: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根据账套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客户对法人数据进行重分类</a:t>
                      </a: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根据账套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客户对（法人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出库未开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退货未办）数据进行重分类</a:t>
                      </a: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zh-CN" altLang="en-US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根据账套</a:t>
                      </a:r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</a:t>
                      </a:r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利润中心对（法人</a:t>
                      </a:r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出库未开</a:t>
                      </a:r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9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退货未办）数据进行重分类</a:t>
                      </a:r>
                    </a:p>
                  </a:txBody>
                  <a:tcPr marL="86738" marR="86738" marT="43369" marB="43369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143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57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CF88E-A765-1FC4-E647-F951FD20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A589E79-3DFA-B7F3-6EE2-61F1C53193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应收重构</a:t>
            </a:r>
            <a:r>
              <a:rPr lang="en-US" altLang="zh-CN" dirty="0"/>
              <a:t> – </a:t>
            </a:r>
            <a:r>
              <a:rPr lang="zh-CN" altLang="en-US" dirty="0"/>
              <a:t>重分类规则处理</a:t>
            </a:r>
          </a:p>
          <a:p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0545F37-1D5C-CDCC-B1A5-26E1E9E21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442064"/>
              </p:ext>
            </p:extLst>
          </p:nvPr>
        </p:nvGraphicFramePr>
        <p:xfrm>
          <a:off x="808074" y="1192704"/>
          <a:ext cx="6237768" cy="230124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3008536473"/>
                    </a:ext>
                  </a:extLst>
                </a:gridCol>
                <a:gridCol w="534389">
                  <a:extLst>
                    <a:ext uri="{9D8B030D-6E8A-4147-A177-3AD203B41FA5}">
                      <a16:colId xmlns:a16="http://schemas.microsoft.com/office/drawing/2014/main" val="664829101"/>
                    </a:ext>
                  </a:extLst>
                </a:gridCol>
                <a:gridCol w="876795">
                  <a:extLst>
                    <a:ext uri="{9D8B030D-6E8A-4147-A177-3AD203B41FA5}">
                      <a16:colId xmlns:a16="http://schemas.microsoft.com/office/drawing/2014/main" val="4123347250"/>
                    </a:ext>
                  </a:extLst>
                </a:gridCol>
                <a:gridCol w="876795">
                  <a:extLst>
                    <a:ext uri="{9D8B030D-6E8A-4147-A177-3AD203B41FA5}">
                      <a16:colId xmlns:a16="http://schemas.microsoft.com/office/drawing/2014/main" val="4190145503"/>
                    </a:ext>
                  </a:extLst>
                </a:gridCol>
                <a:gridCol w="985350">
                  <a:extLst>
                    <a:ext uri="{9D8B030D-6E8A-4147-A177-3AD203B41FA5}">
                      <a16:colId xmlns:a16="http://schemas.microsoft.com/office/drawing/2014/main" val="237681276"/>
                    </a:ext>
                  </a:extLst>
                </a:gridCol>
                <a:gridCol w="1745239">
                  <a:extLst>
                    <a:ext uri="{9D8B030D-6E8A-4147-A177-3AD203B41FA5}">
                      <a16:colId xmlns:a16="http://schemas.microsoft.com/office/drawing/2014/main" val="2495836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1" i="0" dirty="0">
                          <a:solidFill>
                            <a:srgbClr val="F54A45"/>
                          </a:solidFill>
                          <a:effectLst/>
                        </a:rPr>
                        <a:t>重分类规则配置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100" b="1" i="0">
                        <a:solidFill>
                          <a:srgbClr val="F54A45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100" b="1" i="0">
                        <a:solidFill>
                          <a:srgbClr val="F54A45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326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系统号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公司编码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科目范围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客商编码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是否重分类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重分类标识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803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1122%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 —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应收正数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620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1122%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 —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应收负数→合同负债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76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1221%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 —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其他应收正数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928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1221%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 —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其他应收负数→其他应付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225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1123%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 —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预付正数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050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endParaRPr lang="zh-CN" altLang="en-US" sz="10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1123%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&lt;0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 — </a:t>
                      </a:r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预付负数→应付</a:t>
                      </a:r>
                    </a:p>
                  </a:txBody>
                  <a:tcPr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142328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A4813B1-3C8D-61F6-7E38-086D27586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973512"/>
              </p:ext>
            </p:extLst>
          </p:nvPr>
        </p:nvGraphicFramePr>
        <p:xfrm>
          <a:off x="808074" y="4409229"/>
          <a:ext cx="4381278" cy="1280160"/>
        </p:xfrm>
        <a:graphic>
          <a:graphicData uri="http://schemas.openxmlformats.org/drawingml/2006/table">
            <a:tbl>
              <a:tblPr/>
              <a:tblGrid>
                <a:gridCol w="1460426">
                  <a:extLst>
                    <a:ext uri="{9D8B030D-6E8A-4147-A177-3AD203B41FA5}">
                      <a16:colId xmlns:a16="http://schemas.microsoft.com/office/drawing/2014/main" val="220689739"/>
                    </a:ext>
                  </a:extLst>
                </a:gridCol>
                <a:gridCol w="1460426">
                  <a:extLst>
                    <a:ext uri="{9D8B030D-6E8A-4147-A177-3AD203B41FA5}">
                      <a16:colId xmlns:a16="http://schemas.microsoft.com/office/drawing/2014/main" val="205789744"/>
                    </a:ext>
                  </a:extLst>
                </a:gridCol>
                <a:gridCol w="1460426">
                  <a:extLst>
                    <a:ext uri="{9D8B030D-6E8A-4147-A177-3AD203B41FA5}">
                      <a16:colId xmlns:a16="http://schemas.microsoft.com/office/drawing/2014/main" val="655640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CN" altLang="en-US" sz="1100" b="1" i="0" kern="1200" dirty="0">
                          <a:solidFill>
                            <a:srgbClr val="F54A45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三个重分类口径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100" b="1" i="0" kern="1200" dirty="0">
                        <a:solidFill>
                          <a:srgbClr val="F54A45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zh-CN" altLang="en-US" sz="11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805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 dirty="0">
                          <a:solidFill>
                            <a:srgbClr val="FFFFFF"/>
                          </a:solidFill>
                          <a:effectLst/>
                        </a:rPr>
                        <a:t>法人单体账龄标识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管理单体账龄标识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100" b="1" i="0">
                          <a:solidFill>
                            <a:srgbClr val="FFFFFF"/>
                          </a:solidFill>
                          <a:effectLst/>
                        </a:rPr>
                        <a:t>管理分公司账龄标识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500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effectLst/>
                        </a:rPr>
                        <a:t>根据账套</a:t>
                      </a:r>
                      <a:r>
                        <a:rPr lang="en-US" altLang="zh-CN" sz="1100" b="0" i="0" dirty="0">
                          <a:effectLst/>
                        </a:rPr>
                        <a:t>+</a:t>
                      </a:r>
                      <a:r>
                        <a:rPr lang="zh-CN" altLang="en-US" sz="1100" b="0" i="0" dirty="0">
                          <a:effectLst/>
                        </a:rPr>
                        <a:t>客户对法人数据进行重分类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>
                          <a:effectLst/>
                        </a:rPr>
                        <a:t>根据账套</a:t>
                      </a:r>
                      <a:r>
                        <a:rPr lang="en-US" altLang="zh-CN" sz="1100" b="0" i="0">
                          <a:effectLst/>
                        </a:rPr>
                        <a:t>+</a:t>
                      </a:r>
                      <a:r>
                        <a:rPr lang="zh-CN" altLang="en-US" sz="1100" b="0" i="0">
                          <a:effectLst/>
                        </a:rPr>
                        <a:t>客户对（法人</a:t>
                      </a:r>
                      <a:r>
                        <a:rPr lang="en-US" altLang="zh-CN" sz="1100" b="0" i="0">
                          <a:effectLst/>
                        </a:rPr>
                        <a:t>+</a:t>
                      </a:r>
                      <a:r>
                        <a:rPr lang="zh-CN" altLang="en-US" sz="1100" b="0" i="0">
                          <a:effectLst/>
                        </a:rPr>
                        <a:t>出库未开</a:t>
                      </a:r>
                      <a:r>
                        <a:rPr lang="en-US" altLang="zh-CN" sz="1100" b="0" i="0">
                          <a:effectLst/>
                        </a:rPr>
                        <a:t>-</a:t>
                      </a:r>
                      <a:r>
                        <a:rPr lang="zh-CN" altLang="en-US" sz="1100" b="0" i="0">
                          <a:effectLst/>
                        </a:rPr>
                        <a:t>退货未办）数据进行重分类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r>
                        <a:rPr lang="zh-CN" altLang="en-US" sz="1100" b="0" i="0" dirty="0">
                          <a:effectLst/>
                        </a:rPr>
                        <a:t>根据账套</a:t>
                      </a:r>
                      <a:r>
                        <a:rPr lang="en-US" altLang="zh-CN" sz="1100" b="0" i="0" dirty="0">
                          <a:effectLst/>
                        </a:rPr>
                        <a:t>+</a:t>
                      </a:r>
                      <a:r>
                        <a:rPr lang="zh-CN" altLang="en-US" sz="1100" b="0" i="0" dirty="0">
                          <a:effectLst/>
                        </a:rPr>
                        <a:t>客户</a:t>
                      </a:r>
                      <a:r>
                        <a:rPr lang="en-US" altLang="zh-CN" sz="1100" b="0" i="0" dirty="0">
                          <a:effectLst/>
                        </a:rPr>
                        <a:t>+</a:t>
                      </a:r>
                      <a:r>
                        <a:rPr lang="zh-CN" altLang="en-US" sz="1100" b="0" i="0" dirty="0">
                          <a:effectLst/>
                        </a:rPr>
                        <a:t>利润中心对（法人</a:t>
                      </a:r>
                      <a:r>
                        <a:rPr lang="en-US" altLang="zh-CN" sz="1100" b="0" i="0" dirty="0">
                          <a:effectLst/>
                        </a:rPr>
                        <a:t>+</a:t>
                      </a:r>
                      <a:r>
                        <a:rPr lang="zh-CN" altLang="en-US" sz="1100" b="0" i="0" dirty="0">
                          <a:effectLst/>
                        </a:rPr>
                        <a:t>出库未开</a:t>
                      </a:r>
                      <a:r>
                        <a:rPr lang="en-US" altLang="zh-CN" sz="1100" b="0" i="0" dirty="0">
                          <a:effectLst/>
                        </a:rPr>
                        <a:t>-</a:t>
                      </a:r>
                      <a:r>
                        <a:rPr lang="zh-CN" altLang="en-US" sz="1100" b="0" i="0" dirty="0">
                          <a:effectLst/>
                        </a:rPr>
                        <a:t>退货未办）数据进行重分类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15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798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EC67-3ACC-2DFC-1E75-F8BC8839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A5C587A-782F-8F26-6FD1-B931866AE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应收重构</a:t>
            </a:r>
            <a:r>
              <a:rPr lang="en-US" altLang="zh-CN" dirty="0"/>
              <a:t> – </a:t>
            </a:r>
            <a:r>
              <a:rPr lang="zh-CN" altLang="en-US" dirty="0"/>
              <a:t>账龄表调整处理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D4CE8B-4702-F440-3168-A534F6EB90EE}"/>
              </a:ext>
            </a:extLst>
          </p:cNvPr>
          <p:cNvSpPr txBox="1"/>
          <p:nvPr/>
        </p:nvSpPr>
        <p:spPr>
          <a:xfrm>
            <a:off x="1389320" y="1708298"/>
            <a:ext cx="71805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两种调整需求对应的调整方案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、针对系统取数金额列进行调整：通过</a:t>
            </a:r>
            <a:r>
              <a:rPr lang="en-US" altLang="zh-CN" dirty="0"/>
              <a:t>《</a:t>
            </a:r>
            <a:r>
              <a:rPr lang="zh-CN" altLang="en-US" dirty="0"/>
              <a:t>往来账龄调整表</a:t>
            </a:r>
            <a:r>
              <a:rPr lang="en-US" altLang="zh-CN" dirty="0"/>
              <a:t>》</a:t>
            </a:r>
            <a:r>
              <a:rPr lang="zh-CN" altLang="en-US" dirty="0"/>
              <a:t>进行加行调整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、补充文本字段信息：在</a:t>
            </a:r>
            <a:r>
              <a:rPr lang="en-US" altLang="zh-CN" dirty="0"/>
              <a:t>《</a:t>
            </a:r>
            <a:r>
              <a:rPr lang="zh-CN" altLang="en-US" dirty="0"/>
              <a:t>往来账龄结果表</a:t>
            </a:r>
            <a:r>
              <a:rPr lang="en-US" altLang="zh-CN" dirty="0"/>
              <a:t>》</a:t>
            </a:r>
            <a:r>
              <a:rPr lang="zh-CN" altLang="en-US" dirty="0"/>
              <a:t>中原行的列进行补充，系统后续取值更新会按照行唯一标识更新系统取值的列数据</a:t>
            </a:r>
          </a:p>
        </p:txBody>
      </p:sp>
    </p:spTree>
    <p:extLst>
      <p:ext uri="{BB962C8B-B14F-4D97-AF65-F5344CB8AC3E}">
        <p14:creationId xmlns:p14="http://schemas.microsoft.com/office/powerpoint/2010/main" val="2527178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D9A27-B231-6495-CB21-731A8A95C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E5C147A-721E-27FE-BF72-7D707196CA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应收重构</a:t>
            </a:r>
            <a:r>
              <a:rPr lang="en-US" altLang="zh-CN" dirty="0"/>
              <a:t> – </a:t>
            </a:r>
            <a:r>
              <a:rPr lang="zh-CN" altLang="en-US" dirty="0"/>
              <a:t>坏账计提及分摊处理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EDEF47-AEDB-DEAD-182A-FB2976903316}"/>
              </a:ext>
            </a:extLst>
          </p:cNvPr>
          <p:cNvSpPr txBox="1"/>
          <p:nvPr/>
        </p:nvSpPr>
        <p:spPr>
          <a:xfrm>
            <a:off x="1389320" y="1708298"/>
            <a:ext cx="71805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坏账计提基数：</a:t>
            </a:r>
            <a:endParaRPr lang="en-US" altLang="zh-CN" dirty="0"/>
          </a:p>
          <a:p>
            <a:r>
              <a:rPr lang="zh-CN" altLang="en-US"/>
              <a:t>根据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、针对系统取数金额列进行调整：通过</a:t>
            </a:r>
            <a:r>
              <a:rPr lang="en-US" altLang="zh-CN" dirty="0"/>
              <a:t>《</a:t>
            </a:r>
            <a:r>
              <a:rPr lang="zh-CN" altLang="en-US" dirty="0"/>
              <a:t>往来账龄调整表</a:t>
            </a:r>
            <a:r>
              <a:rPr lang="en-US" altLang="zh-CN" dirty="0"/>
              <a:t>》</a:t>
            </a:r>
            <a:r>
              <a:rPr lang="zh-CN" altLang="en-US" dirty="0"/>
              <a:t>进行加行调整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、补充文本字段信息：在</a:t>
            </a:r>
            <a:r>
              <a:rPr lang="en-US" altLang="zh-CN" dirty="0"/>
              <a:t>《</a:t>
            </a:r>
            <a:r>
              <a:rPr lang="zh-CN" altLang="en-US" dirty="0"/>
              <a:t>往来账龄结果表</a:t>
            </a:r>
            <a:r>
              <a:rPr lang="en-US" altLang="zh-CN" dirty="0"/>
              <a:t>》</a:t>
            </a:r>
            <a:r>
              <a:rPr lang="zh-CN" altLang="en-US" dirty="0"/>
              <a:t>中原行的列进行补充，系统后续取值更新会按照行唯一标识更新系统取值的列数据</a:t>
            </a:r>
          </a:p>
        </p:txBody>
      </p:sp>
    </p:spTree>
    <p:extLst>
      <p:ext uri="{BB962C8B-B14F-4D97-AF65-F5344CB8AC3E}">
        <p14:creationId xmlns:p14="http://schemas.microsoft.com/office/powerpoint/2010/main" val="186092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1893B-CB4D-1FAF-57DE-28EF8D3D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2A0851E-CCA5-7B3B-27BE-A6A7E70F9E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应收重构</a:t>
            </a:r>
            <a:r>
              <a:rPr lang="en-US" altLang="zh-CN" dirty="0"/>
              <a:t> – </a:t>
            </a:r>
            <a:r>
              <a:rPr lang="zh-CN" altLang="en-US" dirty="0"/>
              <a:t>周转计算模型处理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4622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FILL_FORE_SCHEMECOLOR_INDEX_2_BRIGHTNESS" val="0"/>
  <p:tag name="KSO_WM_UNIT_FILL_FORE_SCHEMECOLOR_INDEX_2" val="14"/>
  <p:tag name="KSO_WM_UNIT_FILL_FORE_SCHEMECOLOR_INDEX_2_POS" val="1"/>
  <p:tag name="KSO_WM_UNIT_FILL_FORE_SCHEMECOLOR_INDEX_2_TRANS" val="1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86"/>
  <p:tag name="KSO_WM_UNIT_FILL_FORE_SCHEMECOLOR_INDEX_2_BRIGHTNESS" val="0"/>
  <p:tag name="KSO_WM_UNIT_FILL_FORE_SCHEMECOLOR_INDEX_2" val="14"/>
  <p:tag name="KSO_WM_UNIT_FILL_FORE_SCHEMECOLOR_INDEX_2_POS" val="1"/>
  <p:tag name="KSO_WM_UNIT_FILL_FORE_SCHEMECOLOR_INDEX_2_TRANS" val="1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FILL_FORE_SCHEMECOLOR_INDEX_2_BRIGHTNESS" val="0"/>
  <p:tag name="KSO_WM_UNIT_FILL_FORE_SCHEMECOLOR_INDEX_2" val="14"/>
  <p:tag name="KSO_WM_UNIT_FILL_FORE_SCHEMECOLOR_INDEX_2_POS" val="1"/>
  <p:tag name="KSO_WM_UNIT_FILL_FORE_SCHEMECOLOR_INDEX_2_TRANS" val="1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86"/>
  <p:tag name="KSO_WM_UNIT_FILL_FORE_SCHEMECOLOR_INDEX_2_BRIGHTNESS" val="0"/>
  <p:tag name="KSO_WM_UNIT_FILL_FORE_SCHEMECOLOR_INDEX_2" val="14"/>
  <p:tag name="KSO_WM_UNIT_FILL_FORE_SCHEMECOLOR_INDEX_2_POS" val="1"/>
  <p:tag name="KSO_WM_UNIT_FILL_FORE_SCHEMECOLOR_INDEX_2_TRANS" val="1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3412</TotalTime>
  <Words>2274</Words>
  <Application>Microsoft Office PowerPoint</Application>
  <PresentationFormat>宽屏</PresentationFormat>
  <Paragraphs>468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刘英红(英红)</dc:creator>
  <cp:lastModifiedBy>qingfeng shi</cp:lastModifiedBy>
  <cp:revision>37</cp:revision>
  <dcterms:created xsi:type="dcterms:W3CDTF">2026-06-01T05:11:12Z</dcterms:created>
  <dcterms:modified xsi:type="dcterms:W3CDTF">2026-08-12T07:14:44Z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6FF8BE942D7ECDBFF89E9568C63AC37B_42</vt:lpwstr>
  </property>
  <property fmtid="{D5CDD505-2E9C-101B-9397-08002B2CF9AE}" pid="3" name="KSOProductBuildVer">
    <vt:lpwstr>2052-0.0.0.0</vt:lpwstr>
  </property>
</Properties>
</file>